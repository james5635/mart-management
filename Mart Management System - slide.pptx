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Kantumruy Pr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KantumruyPro-bold.fntdata"/><Relationship Id="rId10" Type="http://schemas.openxmlformats.org/officeDocument/2006/relationships/slide" Target="slides/slide5.xml"/><Relationship Id="rId21" Type="http://schemas.openxmlformats.org/officeDocument/2006/relationships/font" Target="fonts/KantumruyPro-regular.fntdata"/><Relationship Id="rId13" Type="http://schemas.openxmlformats.org/officeDocument/2006/relationships/slide" Target="slides/slide8.xml"/><Relationship Id="rId24" Type="http://schemas.openxmlformats.org/officeDocument/2006/relationships/font" Target="fonts/KantumruyPro-boldItalic.fntdata"/><Relationship Id="rId12" Type="http://schemas.openxmlformats.org/officeDocument/2006/relationships/slide" Target="slides/slide7.xml"/><Relationship Id="rId23" Type="http://schemas.openxmlformats.org/officeDocument/2006/relationships/font" Target="fonts/KantumruyPr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8725c6b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8725c6b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fbe8f1f0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fbe8f1f0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fbe8f1f0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fbe8f1f0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fbe8f1f0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fbe8f1f0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082f25ca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082f25ca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fbe8f1f0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fbe8f1f0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082f25ca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082f25ca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082f25cac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082f25ca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082f25ca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082f25ca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082f25ca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082f25ca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082f25cac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082f25cac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082f25ca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082f25ca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082f25ca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082f25ca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887e9b1fb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887e9b1fb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887e9b1f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887e9b1f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2.png"/><Relationship Id="rId8"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2203775" y="292000"/>
            <a:ext cx="5899800" cy="67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800">
                <a:solidFill>
                  <a:schemeClr val="dk1"/>
                </a:solidFill>
                <a:latin typeface="Kantumruy Pro"/>
                <a:ea typeface="Kantumruy Pro"/>
                <a:cs typeface="Kantumruy Pro"/>
                <a:sym typeface="Kantumruy Pro"/>
              </a:rPr>
              <a:t>សាកលវិទ្យាល័យភូមិន្ទភ្នំពេញ</a:t>
            </a:r>
            <a:endParaRPr b="1" sz="3800">
              <a:solidFill>
                <a:schemeClr val="dk1"/>
              </a:solidFill>
              <a:latin typeface="Kantumruy Pro"/>
              <a:ea typeface="Kantumruy Pro"/>
              <a:cs typeface="Kantumruy Pro"/>
              <a:sym typeface="Kantumruy Pro"/>
            </a:endParaRPr>
          </a:p>
        </p:txBody>
      </p:sp>
      <p:pic>
        <p:nvPicPr>
          <p:cNvPr id="55" name="Google Shape;55;p13"/>
          <p:cNvPicPr preferRelativeResize="0"/>
          <p:nvPr/>
        </p:nvPicPr>
        <p:blipFill>
          <a:blip r:embed="rId3">
            <a:alphaModFix amt="5000"/>
          </a:blip>
          <a:stretch>
            <a:fillRect/>
          </a:stretch>
        </p:blipFill>
        <p:spPr>
          <a:xfrm>
            <a:off x="744525" y="640075"/>
            <a:ext cx="7635551" cy="4110550"/>
          </a:xfrm>
          <a:prstGeom prst="rect">
            <a:avLst/>
          </a:prstGeom>
          <a:noFill/>
          <a:ln>
            <a:noFill/>
          </a:ln>
        </p:spPr>
      </p:pic>
      <p:pic>
        <p:nvPicPr>
          <p:cNvPr id="56" name="Google Shape;56;p13"/>
          <p:cNvPicPr preferRelativeResize="0"/>
          <p:nvPr/>
        </p:nvPicPr>
        <p:blipFill>
          <a:blip r:embed="rId4">
            <a:alphaModFix/>
          </a:blip>
          <a:stretch>
            <a:fillRect/>
          </a:stretch>
        </p:blipFill>
        <p:spPr>
          <a:xfrm>
            <a:off x="405113" y="143456"/>
            <a:ext cx="1075301" cy="1097238"/>
          </a:xfrm>
          <a:prstGeom prst="rect">
            <a:avLst/>
          </a:prstGeom>
          <a:noFill/>
          <a:ln>
            <a:noFill/>
          </a:ln>
        </p:spPr>
      </p:pic>
      <p:sp>
        <p:nvSpPr>
          <p:cNvPr id="57" name="Google Shape;57;p13"/>
          <p:cNvSpPr txBox="1"/>
          <p:nvPr/>
        </p:nvSpPr>
        <p:spPr>
          <a:xfrm>
            <a:off x="2383575" y="1433096"/>
            <a:ext cx="5596500" cy="2062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600">
                <a:solidFill>
                  <a:schemeClr val="dk1"/>
                </a:solidFill>
                <a:latin typeface="Kantumruy Pro"/>
                <a:ea typeface="Kantumruy Pro"/>
                <a:cs typeface="Kantumruy Pro"/>
                <a:sym typeface="Kantumruy Pro"/>
              </a:rPr>
              <a:t>ប្រព័ន្ធគ្រប់គ្រងហាងលក់ទំនិញ</a:t>
            </a:r>
            <a:endParaRPr sz="2600">
              <a:solidFill>
                <a:schemeClr val="dk1"/>
              </a:solidFill>
              <a:latin typeface="Kantumruy Pro"/>
              <a:ea typeface="Kantumruy Pro"/>
              <a:cs typeface="Kantumruy Pro"/>
              <a:sym typeface="Kantumruy Pro"/>
            </a:endParaRPr>
          </a:p>
          <a:p>
            <a:pPr indent="0" lvl="0" marL="0" rtl="0" algn="ctr">
              <a:spcBef>
                <a:spcPts val="0"/>
              </a:spcBef>
              <a:spcAft>
                <a:spcPts val="0"/>
              </a:spcAft>
              <a:buNone/>
            </a:pPr>
            <a:r>
              <a:rPr lang="en" sz="2600">
                <a:solidFill>
                  <a:schemeClr val="dk1"/>
                </a:solidFill>
                <a:latin typeface="Kantumruy Pro"/>
                <a:ea typeface="Kantumruy Pro"/>
                <a:cs typeface="Kantumruy Pro"/>
                <a:sym typeface="Kantumruy Pro"/>
              </a:rPr>
              <a:t>Mart Management System</a:t>
            </a:r>
            <a:endParaRPr sz="2600">
              <a:solidFill>
                <a:schemeClr val="dk1"/>
              </a:solidFill>
              <a:latin typeface="Kantumruy Pro"/>
              <a:ea typeface="Kantumruy Pro"/>
              <a:cs typeface="Kantumruy Pro"/>
              <a:sym typeface="Kantumruy Pro"/>
            </a:endParaRPr>
          </a:p>
          <a:p>
            <a:pPr indent="0" lvl="0" marL="0" rtl="0" algn="ctr">
              <a:spcBef>
                <a:spcPts val="0"/>
              </a:spcBef>
              <a:spcAft>
                <a:spcPts val="0"/>
              </a:spcAft>
              <a:buNone/>
            </a:pPr>
            <a:r>
              <a:rPr lang="en" sz="2600">
                <a:solidFill>
                  <a:schemeClr val="dk1"/>
                </a:solidFill>
                <a:latin typeface="Kantumruy Pro"/>
                <a:ea typeface="Kantumruy Pro"/>
                <a:cs typeface="Kantumruy Pro"/>
                <a:sym typeface="Kantumruy Pro"/>
              </a:rPr>
              <a:t>—</a:t>
            </a:r>
            <a:endParaRPr sz="2600">
              <a:solidFill>
                <a:schemeClr val="dk1"/>
              </a:solidFill>
              <a:latin typeface="Kantumruy Pro"/>
              <a:ea typeface="Kantumruy Pro"/>
              <a:cs typeface="Kantumruy Pro"/>
              <a:sym typeface="Kantumruy Pro"/>
            </a:endParaRPr>
          </a:p>
          <a:p>
            <a:pPr indent="0" lvl="0" marL="0" rtl="0" algn="ctr">
              <a:spcBef>
                <a:spcPts val="0"/>
              </a:spcBef>
              <a:spcAft>
                <a:spcPts val="0"/>
              </a:spcAft>
              <a:buClr>
                <a:schemeClr val="lt1"/>
              </a:buClr>
              <a:buSzPts val="3400"/>
              <a:buFont typeface="Arial"/>
              <a:buNone/>
            </a:pPr>
            <a:r>
              <a:t/>
            </a:r>
            <a:endParaRPr sz="26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id="58" name="Google Shape;58;p13"/>
          <p:cNvPicPr preferRelativeResize="0"/>
          <p:nvPr/>
        </p:nvPicPr>
        <p:blipFill>
          <a:blip r:embed="rId5">
            <a:alphaModFix/>
          </a:blip>
          <a:stretch>
            <a:fillRect/>
          </a:stretch>
        </p:blipFill>
        <p:spPr>
          <a:xfrm>
            <a:off x="3442625" y="2651984"/>
            <a:ext cx="482925" cy="482925"/>
          </a:xfrm>
          <a:prstGeom prst="rect">
            <a:avLst/>
          </a:prstGeom>
          <a:noFill/>
          <a:ln>
            <a:noFill/>
          </a:ln>
        </p:spPr>
      </p:pic>
      <p:pic>
        <p:nvPicPr>
          <p:cNvPr id="59" name="Google Shape;59;p13"/>
          <p:cNvPicPr preferRelativeResize="0"/>
          <p:nvPr/>
        </p:nvPicPr>
        <p:blipFill>
          <a:blip r:embed="rId6">
            <a:alphaModFix/>
          </a:blip>
          <a:stretch>
            <a:fillRect/>
          </a:stretch>
        </p:blipFill>
        <p:spPr>
          <a:xfrm>
            <a:off x="4360311" y="2751656"/>
            <a:ext cx="405900" cy="405900"/>
          </a:xfrm>
          <a:prstGeom prst="rect">
            <a:avLst/>
          </a:prstGeom>
          <a:noFill/>
          <a:ln>
            <a:noFill/>
          </a:ln>
        </p:spPr>
      </p:pic>
      <p:pic>
        <p:nvPicPr>
          <p:cNvPr id="60" name="Google Shape;60;p13"/>
          <p:cNvPicPr preferRelativeResize="0"/>
          <p:nvPr/>
        </p:nvPicPr>
        <p:blipFill>
          <a:blip r:embed="rId7">
            <a:alphaModFix/>
          </a:blip>
          <a:stretch>
            <a:fillRect/>
          </a:stretch>
        </p:blipFill>
        <p:spPr>
          <a:xfrm>
            <a:off x="5209720" y="2729615"/>
            <a:ext cx="445850" cy="445850"/>
          </a:xfrm>
          <a:prstGeom prst="rect">
            <a:avLst/>
          </a:prstGeom>
          <a:noFill/>
          <a:ln>
            <a:noFill/>
          </a:ln>
        </p:spPr>
      </p:pic>
      <p:pic>
        <p:nvPicPr>
          <p:cNvPr id="61" name="Google Shape;61;p13"/>
          <p:cNvPicPr preferRelativeResize="0"/>
          <p:nvPr/>
        </p:nvPicPr>
        <p:blipFill>
          <a:blip r:embed="rId8">
            <a:alphaModFix/>
          </a:blip>
          <a:stretch>
            <a:fillRect/>
          </a:stretch>
        </p:blipFill>
        <p:spPr>
          <a:xfrm>
            <a:off x="6123975" y="2756493"/>
            <a:ext cx="445850" cy="445850"/>
          </a:xfrm>
          <a:prstGeom prst="rect">
            <a:avLst/>
          </a:prstGeom>
          <a:noFill/>
          <a:ln>
            <a:noFill/>
          </a:ln>
        </p:spPr>
      </p:pic>
      <p:sp>
        <p:nvSpPr>
          <p:cNvPr id="62" name="Google Shape;62;p13"/>
          <p:cNvSpPr txBox="1"/>
          <p:nvPr/>
        </p:nvSpPr>
        <p:spPr>
          <a:xfrm>
            <a:off x="3324789" y="3108681"/>
            <a:ext cx="961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Kantumruy Pro"/>
                <a:ea typeface="Kantumruy Pro"/>
                <a:cs typeface="Kantumruy Pro"/>
                <a:sym typeface="Kantumruy Pro"/>
              </a:rPr>
              <a:t>ផលិតផល</a:t>
            </a:r>
            <a:endParaRPr sz="1300">
              <a:solidFill>
                <a:schemeClr val="dk1"/>
              </a:solidFill>
              <a:latin typeface="Kantumruy Pro"/>
              <a:ea typeface="Kantumruy Pro"/>
              <a:cs typeface="Kantumruy Pro"/>
              <a:sym typeface="Kantumruy Pro"/>
            </a:endParaRPr>
          </a:p>
        </p:txBody>
      </p:sp>
      <p:sp>
        <p:nvSpPr>
          <p:cNvPr id="63" name="Google Shape;63;p13"/>
          <p:cNvSpPr txBox="1"/>
          <p:nvPr/>
        </p:nvSpPr>
        <p:spPr>
          <a:xfrm>
            <a:off x="4373374" y="3108681"/>
            <a:ext cx="961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Kantumruy Pro"/>
                <a:ea typeface="Kantumruy Pro"/>
                <a:cs typeface="Kantumruy Pro"/>
                <a:sym typeface="Kantumruy Pro"/>
              </a:rPr>
              <a:t>លក់</a:t>
            </a:r>
            <a:endParaRPr sz="1300">
              <a:solidFill>
                <a:schemeClr val="dk1"/>
              </a:solidFill>
              <a:latin typeface="Kantumruy Pro"/>
              <a:ea typeface="Kantumruy Pro"/>
              <a:cs typeface="Kantumruy Pro"/>
              <a:sym typeface="Kantumruy Pro"/>
            </a:endParaRPr>
          </a:p>
        </p:txBody>
      </p:sp>
      <p:sp>
        <p:nvSpPr>
          <p:cNvPr id="64" name="Google Shape;64;p13"/>
          <p:cNvSpPr txBox="1"/>
          <p:nvPr/>
        </p:nvSpPr>
        <p:spPr>
          <a:xfrm>
            <a:off x="5221047" y="3108681"/>
            <a:ext cx="961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Kantumruy Pro"/>
                <a:ea typeface="Kantumruy Pro"/>
                <a:cs typeface="Kantumruy Pro"/>
                <a:sym typeface="Kantumruy Pro"/>
              </a:rPr>
              <a:t>ស្តុក</a:t>
            </a:r>
            <a:endParaRPr sz="1300">
              <a:solidFill>
                <a:schemeClr val="dk1"/>
              </a:solidFill>
              <a:latin typeface="Kantumruy Pro"/>
              <a:ea typeface="Kantumruy Pro"/>
              <a:cs typeface="Kantumruy Pro"/>
              <a:sym typeface="Kantumruy Pro"/>
            </a:endParaRPr>
          </a:p>
        </p:txBody>
      </p:sp>
      <p:sp>
        <p:nvSpPr>
          <p:cNvPr id="65" name="Google Shape;65;p13"/>
          <p:cNvSpPr txBox="1"/>
          <p:nvPr/>
        </p:nvSpPr>
        <p:spPr>
          <a:xfrm>
            <a:off x="5976770" y="3108681"/>
            <a:ext cx="961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Kantumruy Pro"/>
                <a:ea typeface="Kantumruy Pro"/>
                <a:cs typeface="Kantumruy Pro"/>
                <a:sym typeface="Kantumruy Pro"/>
              </a:rPr>
              <a:t>អ្នកប្រើប្រាស់</a:t>
            </a:r>
            <a:endParaRPr sz="1300">
              <a:solidFill>
                <a:schemeClr val="dk1"/>
              </a:solidFill>
              <a:latin typeface="Kantumruy Pro"/>
              <a:ea typeface="Kantumruy Pro"/>
              <a:cs typeface="Kantumruy Pro"/>
              <a:sym typeface="Kantumruy Pro"/>
            </a:endParaRPr>
          </a:p>
        </p:txBody>
      </p:sp>
      <p:sp>
        <p:nvSpPr>
          <p:cNvPr id="66" name="Google Shape;66;p13"/>
          <p:cNvSpPr txBox="1"/>
          <p:nvPr/>
        </p:nvSpPr>
        <p:spPr>
          <a:xfrm>
            <a:off x="405125" y="3743578"/>
            <a:ext cx="50334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Kantumruy Pro"/>
                <a:ea typeface="Kantumruy Pro"/>
                <a:cs typeface="Kantumruy Pro"/>
                <a:sym typeface="Kantumruy Pro"/>
              </a:rPr>
              <a:t>មុខវិជ្ជា៖ OOAD and Programming</a:t>
            </a:r>
            <a:endParaRPr sz="1800">
              <a:solidFill>
                <a:schemeClr val="dk1"/>
              </a:solidFill>
              <a:latin typeface="Kantumruy Pro"/>
              <a:ea typeface="Kantumruy Pro"/>
              <a:cs typeface="Kantumruy Pro"/>
              <a:sym typeface="Kantumruy Pro"/>
            </a:endParaRPr>
          </a:p>
          <a:p>
            <a:pPr indent="0" lvl="0" marL="0" rtl="0" algn="l">
              <a:lnSpc>
                <a:spcPct val="115000"/>
              </a:lnSpc>
              <a:spcBef>
                <a:spcPts val="0"/>
              </a:spcBef>
              <a:spcAft>
                <a:spcPts val="0"/>
              </a:spcAft>
              <a:buNone/>
            </a:pPr>
            <a:r>
              <a:rPr lang="en" sz="1800">
                <a:solidFill>
                  <a:schemeClr val="dk1"/>
                </a:solidFill>
                <a:latin typeface="Kantumruy Pro"/>
                <a:ea typeface="Kantumruy Pro"/>
                <a:cs typeface="Kantumruy Pro"/>
                <a:sym typeface="Kantumruy Pro"/>
              </a:rPr>
              <a:t>បង្រៀនដោយ៖ Dan Vournpheng</a:t>
            </a:r>
            <a:endParaRPr sz="1800">
              <a:solidFill>
                <a:schemeClr val="dk1"/>
              </a:solidFill>
              <a:latin typeface="Kantumruy Pro"/>
              <a:ea typeface="Kantumruy Pro"/>
              <a:cs typeface="Kantumruy Pro"/>
              <a:sym typeface="Kantumruy Pro"/>
            </a:endParaRPr>
          </a:p>
          <a:p>
            <a:pPr indent="0" lvl="0" marL="0" rtl="0" algn="l">
              <a:lnSpc>
                <a:spcPct val="115000"/>
              </a:lnSpc>
              <a:spcBef>
                <a:spcPts val="0"/>
              </a:spcBef>
              <a:spcAft>
                <a:spcPts val="0"/>
              </a:spcAft>
              <a:buNone/>
            </a:pPr>
            <a:r>
              <a:rPr lang="en" sz="1800">
                <a:solidFill>
                  <a:schemeClr val="dk1"/>
                </a:solidFill>
                <a:latin typeface="Kantumruy Pro"/>
                <a:ea typeface="Kantumruy Pro"/>
                <a:cs typeface="Kantumruy Pro"/>
                <a:sym typeface="Kantumruy Pro"/>
              </a:rPr>
              <a:t>ថ្នាក់៖ M1    ​​  ក្រុមទី៖ 4</a:t>
            </a:r>
            <a:endParaRPr sz="1800">
              <a:solidFill>
                <a:schemeClr val="dk1"/>
              </a:solidFill>
              <a:latin typeface="Kantumruy Pro"/>
              <a:ea typeface="Kantumruy Pro"/>
              <a:cs typeface="Kantumruy Pro"/>
              <a:sym typeface="Kantumruy Pro"/>
            </a:endParaRPr>
          </a:p>
        </p:txBody>
      </p:sp>
      <p:sp>
        <p:nvSpPr>
          <p:cNvPr id="67" name="Google Shape;67;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idx="1" type="subTitle"/>
          </p:nvPr>
        </p:nvSpPr>
        <p:spPr>
          <a:xfrm>
            <a:off x="405130" y="293700"/>
            <a:ext cx="2545500" cy="67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Kantumruy Pro"/>
                <a:ea typeface="Kantumruy Pro"/>
                <a:cs typeface="Kantumruy Pro"/>
                <a:sym typeface="Kantumruy Pro"/>
              </a:rPr>
              <a:t>សមាជិកក្រុម</a:t>
            </a:r>
            <a:endParaRPr b="1">
              <a:solidFill>
                <a:schemeClr val="dk1"/>
              </a:solidFill>
              <a:latin typeface="Kantumruy Pro"/>
              <a:ea typeface="Kantumruy Pro"/>
              <a:cs typeface="Kantumruy Pro"/>
              <a:sym typeface="Kantumruy Pro"/>
            </a:endParaRPr>
          </a:p>
        </p:txBody>
      </p:sp>
      <p:pic>
        <p:nvPicPr>
          <p:cNvPr id="73" name="Google Shape;73;p14"/>
          <p:cNvPicPr preferRelativeResize="0"/>
          <p:nvPr/>
        </p:nvPicPr>
        <p:blipFill>
          <a:blip r:embed="rId3">
            <a:alphaModFix amt="5000"/>
          </a:blip>
          <a:stretch>
            <a:fillRect/>
          </a:stretch>
        </p:blipFill>
        <p:spPr>
          <a:xfrm>
            <a:off x="956500" y="480775"/>
            <a:ext cx="7498549" cy="4036800"/>
          </a:xfrm>
          <a:prstGeom prst="rect">
            <a:avLst/>
          </a:prstGeom>
          <a:noFill/>
          <a:ln>
            <a:noFill/>
          </a:ln>
        </p:spPr>
      </p:pic>
      <p:sp>
        <p:nvSpPr>
          <p:cNvPr id="74" name="Google Shape;74;p14"/>
          <p:cNvSpPr txBox="1"/>
          <p:nvPr/>
        </p:nvSpPr>
        <p:spPr>
          <a:xfrm>
            <a:off x="1079628" y="1348629"/>
            <a:ext cx="4875900" cy="2555100"/>
          </a:xfrm>
          <a:prstGeom prst="rect">
            <a:avLst/>
          </a:prstGeom>
          <a:noFill/>
          <a:ln>
            <a:noFill/>
          </a:ln>
        </p:spPr>
        <p:txBody>
          <a:bodyPr anchorCtr="0" anchor="t" bIns="91425" lIns="91425" spcFirstLastPara="1" rIns="91425" wrap="square" tIns="91425">
            <a:spAutoFit/>
          </a:bodyPr>
          <a:lstStyle/>
          <a:p>
            <a:pPr indent="-368300" lvl="0" marL="457200" rtl="0" algn="l">
              <a:lnSpc>
                <a:spcPct val="20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ស៊ូ ចាន់រ៉ូជែម​ - Sou Chanrojame</a:t>
            </a:r>
            <a:endParaRPr sz="2200">
              <a:solidFill>
                <a:schemeClr val="dk1"/>
              </a:solidFill>
              <a:latin typeface="Kantumruy Pro"/>
              <a:ea typeface="Kantumruy Pro"/>
              <a:cs typeface="Kantumruy Pro"/>
              <a:sym typeface="Kantumruy Pro"/>
            </a:endParaRPr>
          </a:p>
          <a:p>
            <a:pPr indent="-368300" lvl="0" marL="457200" rtl="0" algn="l">
              <a:lnSpc>
                <a:spcPct val="20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ធិន​ សុីវធាន - Then Sivthean</a:t>
            </a:r>
            <a:endParaRPr sz="2200">
              <a:solidFill>
                <a:schemeClr val="dk1"/>
              </a:solidFill>
              <a:latin typeface="Kantumruy Pro"/>
              <a:ea typeface="Kantumruy Pro"/>
              <a:cs typeface="Kantumruy Pro"/>
              <a:sym typeface="Kantumruy Pro"/>
            </a:endParaRPr>
          </a:p>
          <a:p>
            <a:pPr indent="-368300" lvl="0" marL="457200" rtl="0" algn="l">
              <a:lnSpc>
                <a:spcPct val="20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អន ភក្តី - Orn Pheakdey</a:t>
            </a:r>
            <a:endParaRPr sz="2200">
              <a:solidFill>
                <a:schemeClr val="dk1"/>
              </a:solidFill>
              <a:latin typeface="Kantumruy Pro"/>
              <a:ea typeface="Kantumruy Pro"/>
              <a:cs typeface="Kantumruy Pro"/>
              <a:sym typeface="Kantumruy Pro"/>
            </a:endParaRPr>
          </a:p>
          <a:p>
            <a:pPr indent="-368300" lvl="0" marL="457200" rtl="0" algn="l">
              <a:lnSpc>
                <a:spcPct val="20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លិ ស្រីម៉ា​ ​- Le Sreyma</a:t>
            </a:r>
            <a:endParaRPr sz="2200">
              <a:solidFill>
                <a:schemeClr val="dk1"/>
              </a:solidFill>
              <a:latin typeface="Kantumruy Pro"/>
              <a:ea typeface="Kantumruy Pro"/>
              <a:cs typeface="Kantumruy Pro"/>
              <a:sym typeface="Kantumruy Pro"/>
            </a:endParaRPr>
          </a:p>
        </p:txBody>
      </p:sp>
      <p:pic>
        <p:nvPicPr>
          <p:cNvPr id="75" name="Google Shape;75;p14"/>
          <p:cNvPicPr preferRelativeResize="0"/>
          <p:nvPr/>
        </p:nvPicPr>
        <p:blipFill>
          <a:blip r:embed="rId4">
            <a:alphaModFix/>
          </a:blip>
          <a:stretch>
            <a:fillRect/>
          </a:stretch>
        </p:blipFill>
        <p:spPr>
          <a:xfrm>
            <a:off x="4808325" y="911675"/>
            <a:ext cx="3429000" cy="3429000"/>
          </a:xfrm>
          <a:prstGeom prst="rect">
            <a:avLst/>
          </a:prstGeom>
          <a:noFill/>
          <a:ln>
            <a:noFill/>
          </a:ln>
        </p:spPr>
      </p:pic>
      <p:sp>
        <p:nvSpPr>
          <p:cNvPr id="76" name="Google Shape;7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subTitle"/>
          </p:nvPr>
        </p:nvSpPr>
        <p:spPr>
          <a:xfrm>
            <a:off x="405130" y="293700"/>
            <a:ext cx="2545500" cy="67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Kantumruy Pro"/>
                <a:ea typeface="Kantumruy Pro"/>
                <a:cs typeface="Kantumruy Pro"/>
                <a:sym typeface="Kantumruy Pro"/>
              </a:rPr>
              <a:t>មាតិកា</a:t>
            </a:r>
            <a:endParaRPr b="1">
              <a:solidFill>
                <a:schemeClr val="dk1"/>
              </a:solidFill>
              <a:latin typeface="Kantumruy Pro"/>
              <a:ea typeface="Kantumruy Pro"/>
              <a:cs typeface="Kantumruy Pro"/>
              <a:sym typeface="Kantumruy Pro"/>
            </a:endParaRPr>
          </a:p>
        </p:txBody>
      </p:sp>
      <p:pic>
        <p:nvPicPr>
          <p:cNvPr id="82" name="Google Shape;82;p15"/>
          <p:cNvPicPr preferRelativeResize="0"/>
          <p:nvPr/>
        </p:nvPicPr>
        <p:blipFill>
          <a:blip r:embed="rId3">
            <a:alphaModFix amt="5000"/>
          </a:blip>
          <a:stretch>
            <a:fillRect/>
          </a:stretch>
        </p:blipFill>
        <p:spPr>
          <a:xfrm>
            <a:off x="276150" y="495300"/>
            <a:ext cx="8104925" cy="4898575"/>
          </a:xfrm>
          <a:prstGeom prst="rect">
            <a:avLst/>
          </a:prstGeom>
          <a:noFill/>
          <a:ln>
            <a:noFill/>
          </a:ln>
        </p:spPr>
      </p:pic>
      <p:sp>
        <p:nvSpPr>
          <p:cNvPr id="83" name="Google Shape;83;p15"/>
          <p:cNvSpPr txBox="1"/>
          <p:nvPr/>
        </p:nvSpPr>
        <p:spPr>
          <a:xfrm>
            <a:off x="1079625" y="1062875"/>
            <a:ext cx="6339000" cy="2555100"/>
          </a:xfrm>
          <a:prstGeom prst="rect">
            <a:avLst/>
          </a:prstGeom>
          <a:noFill/>
          <a:ln>
            <a:noFill/>
          </a:ln>
        </p:spPr>
        <p:txBody>
          <a:bodyPr anchorCtr="0" anchor="t" bIns="91425" lIns="91425" spcFirstLastPara="1" rIns="91425" wrap="square" tIns="91425">
            <a:spAutoFit/>
          </a:bodyPr>
          <a:lstStyle/>
          <a:p>
            <a:pPr indent="-368300" lvl="0" marL="457200" rtl="0" algn="l">
              <a:lnSpc>
                <a:spcPct val="15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គោលបំណងនៃប្រព័ន្ធ</a:t>
            </a:r>
            <a:endParaRPr sz="2200">
              <a:solidFill>
                <a:schemeClr val="dk1"/>
              </a:solidFill>
              <a:latin typeface="Kantumruy Pro"/>
              <a:ea typeface="Kantumruy Pro"/>
              <a:cs typeface="Kantumruy Pro"/>
              <a:sym typeface="Kantumruy Pro"/>
            </a:endParaRPr>
          </a:p>
          <a:p>
            <a:pPr indent="-368300" lvl="0" marL="457200" rtl="0" algn="l">
              <a:lnSpc>
                <a:spcPct val="15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Form</a:t>
            </a:r>
            <a:endParaRPr sz="2200">
              <a:solidFill>
                <a:schemeClr val="dk1"/>
              </a:solidFill>
              <a:latin typeface="Kantumruy Pro"/>
              <a:ea typeface="Kantumruy Pro"/>
              <a:cs typeface="Kantumruy Pro"/>
              <a:sym typeface="Kantumruy Pro"/>
            </a:endParaRPr>
          </a:p>
          <a:p>
            <a:pPr indent="-368300" lvl="0" marL="457200" rtl="0" algn="l">
              <a:lnSpc>
                <a:spcPct val="15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លក្ខណៈ OOP</a:t>
            </a:r>
            <a:endParaRPr sz="2200">
              <a:solidFill>
                <a:schemeClr val="dk1"/>
              </a:solidFill>
              <a:latin typeface="Kantumruy Pro"/>
              <a:ea typeface="Kantumruy Pro"/>
              <a:cs typeface="Kantumruy Pro"/>
              <a:sym typeface="Kantumruy Pro"/>
            </a:endParaRPr>
          </a:p>
          <a:p>
            <a:pPr indent="-368300" lvl="0" marL="457200" rtl="0" algn="l">
              <a:lnSpc>
                <a:spcPct val="15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សន្និដ្ឋាន</a:t>
            </a:r>
            <a:endParaRPr sz="2200">
              <a:solidFill>
                <a:schemeClr val="dk1"/>
              </a:solidFill>
              <a:latin typeface="Kantumruy Pro"/>
              <a:ea typeface="Kantumruy Pro"/>
              <a:cs typeface="Kantumruy Pro"/>
              <a:sym typeface="Kantumruy Pro"/>
            </a:endParaRPr>
          </a:p>
          <a:p>
            <a:pPr indent="-368300" lvl="0" marL="457200" rtl="0" algn="l">
              <a:lnSpc>
                <a:spcPct val="150000"/>
              </a:lnSpc>
              <a:spcBef>
                <a:spcPts val="0"/>
              </a:spcBef>
              <a:spcAft>
                <a:spcPts val="0"/>
              </a:spcAft>
              <a:buClr>
                <a:schemeClr val="dk1"/>
              </a:buClr>
              <a:buSzPts val="2200"/>
              <a:buFont typeface="Kantumruy Pro"/>
              <a:buAutoNum type="arabicPeriod"/>
            </a:pPr>
            <a:r>
              <a:rPr lang="en" sz="2200">
                <a:solidFill>
                  <a:schemeClr val="dk1"/>
                </a:solidFill>
                <a:latin typeface="Kantumruy Pro"/>
                <a:ea typeface="Kantumruy Pro"/>
                <a:cs typeface="Kantumruy Pro"/>
                <a:sym typeface="Kantumruy Pro"/>
              </a:rPr>
              <a:t>Demo</a:t>
            </a:r>
            <a:endParaRPr sz="2200">
              <a:solidFill>
                <a:schemeClr val="dk1"/>
              </a:solidFill>
              <a:latin typeface="Kantumruy Pro"/>
              <a:ea typeface="Kantumruy Pro"/>
              <a:cs typeface="Kantumruy Pro"/>
              <a:sym typeface="Kantumruy Pro"/>
            </a:endParaRPr>
          </a:p>
        </p:txBody>
      </p:sp>
      <p:sp>
        <p:nvSpPr>
          <p:cNvPr id="84" name="Google Shape;8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idx="1" type="subTitle"/>
          </p:nvPr>
        </p:nvSpPr>
        <p:spPr>
          <a:xfrm>
            <a:off x="405123" y="293700"/>
            <a:ext cx="3475500" cy="674100"/>
          </a:xfrm>
          <a:prstGeom prst="rect">
            <a:avLst/>
          </a:prstGeom>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Clr>
                <a:schemeClr val="dk1"/>
              </a:buClr>
              <a:buSzPts val="2500"/>
              <a:buFont typeface="Kantumruy Pro"/>
              <a:buAutoNum type="arabicPeriod"/>
            </a:pPr>
            <a:r>
              <a:rPr b="1" lang="en" sz="2500">
                <a:solidFill>
                  <a:schemeClr val="dk1"/>
                </a:solidFill>
                <a:latin typeface="Kantumruy Pro"/>
                <a:ea typeface="Kantumruy Pro"/>
                <a:cs typeface="Kantumruy Pro"/>
                <a:sym typeface="Kantumruy Pro"/>
              </a:rPr>
              <a:t>គោលបំណងនៃប្រព័ន្ធ</a:t>
            </a:r>
            <a:endParaRPr b="1" sz="3100">
              <a:solidFill>
                <a:schemeClr val="dk1"/>
              </a:solidFill>
              <a:latin typeface="Kantumruy Pro"/>
              <a:ea typeface="Kantumruy Pro"/>
              <a:cs typeface="Kantumruy Pro"/>
              <a:sym typeface="Kantumruy Pro"/>
            </a:endParaRPr>
          </a:p>
        </p:txBody>
      </p:sp>
      <p:pic>
        <p:nvPicPr>
          <p:cNvPr id="90" name="Google Shape;90;p16"/>
          <p:cNvPicPr preferRelativeResize="0"/>
          <p:nvPr/>
        </p:nvPicPr>
        <p:blipFill>
          <a:blip r:embed="rId3">
            <a:alphaModFix amt="5000"/>
          </a:blip>
          <a:stretch>
            <a:fillRect/>
          </a:stretch>
        </p:blipFill>
        <p:spPr>
          <a:xfrm>
            <a:off x="813150" y="606797"/>
            <a:ext cx="7942200" cy="4275628"/>
          </a:xfrm>
          <a:prstGeom prst="rect">
            <a:avLst/>
          </a:prstGeom>
          <a:noFill/>
          <a:ln>
            <a:noFill/>
          </a:ln>
        </p:spPr>
      </p:pic>
      <p:sp>
        <p:nvSpPr>
          <p:cNvPr id="91" name="Google Shape;91;p16"/>
          <p:cNvSpPr txBox="1"/>
          <p:nvPr/>
        </p:nvSpPr>
        <p:spPr>
          <a:xfrm>
            <a:off x="562550" y="967800"/>
            <a:ext cx="8581500" cy="1681800"/>
          </a:xfrm>
          <a:prstGeom prst="rect">
            <a:avLst/>
          </a:prstGeom>
          <a:noFill/>
          <a:ln>
            <a:noFill/>
          </a:ln>
        </p:spPr>
        <p:txBody>
          <a:bodyPr anchorCtr="0" anchor="t" bIns="91425" lIns="91425" spcFirstLastPara="1" rIns="91425" wrap="square" tIns="91425">
            <a:spAutoFit/>
          </a:bodyPr>
          <a:lstStyle/>
          <a:p>
            <a:pPr indent="0" lvl="0" marL="0" rtl="0" algn="l">
              <a:lnSpc>
                <a:spcPct val="162533"/>
              </a:lnSpc>
              <a:spcBef>
                <a:spcPts val="0"/>
              </a:spcBef>
              <a:spcAft>
                <a:spcPts val="0"/>
              </a:spcAft>
              <a:buClr>
                <a:schemeClr val="dk1"/>
              </a:buClr>
              <a:buSzPts val="1100"/>
              <a:buFont typeface="Arial"/>
              <a:buNone/>
            </a:pPr>
            <a:r>
              <a:rPr lang="en" sz="1600">
                <a:solidFill>
                  <a:schemeClr val="dk1"/>
                </a:solidFill>
                <a:latin typeface="Kantumruy Pro"/>
                <a:ea typeface="Kantumruy Pro"/>
                <a:cs typeface="Kantumruy Pro"/>
                <a:sym typeface="Kantumruy Pro"/>
              </a:rPr>
              <a:t>គោលបំណងនៃប្រព័ន្ធ Mart Management System គឺដើម្បីជួយឲ្យម្ចាស់សហគ្រាស</a:t>
            </a:r>
            <a:endParaRPr sz="1600">
              <a:solidFill>
                <a:schemeClr val="dk1"/>
              </a:solidFill>
              <a:latin typeface="Kantumruy Pro"/>
              <a:ea typeface="Kantumruy Pro"/>
              <a:cs typeface="Kantumruy Pro"/>
              <a:sym typeface="Kantumruy Pro"/>
            </a:endParaRPr>
          </a:p>
          <a:p>
            <a:pPr indent="0" lvl="0" marL="0" rtl="0" algn="l">
              <a:lnSpc>
                <a:spcPct val="162533"/>
              </a:lnSpc>
              <a:spcBef>
                <a:spcPts val="0"/>
              </a:spcBef>
              <a:spcAft>
                <a:spcPts val="0"/>
              </a:spcAft>
              <a:buClr>
                <a:schemeClr val="dk1"/>
              </a:buClr>
              <a:buSzPts val="1100"/>
              <a:buFont typeface="Arial"/>
              <a:buNone/>
            </a:pPr>
            <a:r>
              <a:rPr lang="en" sz="1600">
                <a:solidFill>
                  <a:schemeClr val="dk1"/>
                </a:solidFill>
                <a:latin typeface="Kantumruy Pro"/>
                <a:ea typeface="Kantumruy Pro"/>
                <a:cs typeface="Kantumruy Pro"/>
                <a:sym typeface="Kantumruy Pro"/>
              </a:rPr>
              <a:t>ឬអ្នកគ្រប់គ្រងផ្សារ អាចគ្រប់គ្រងទិន្</a:t>
            </a:r>
            <a:r>
              <a:rPr lang="en" sz="1600">
                <a:solidFill>
                  <a:schemeClr val="dk1"/>
                </a:solidFill>
                <a:latin typeface="Kantumruy Pro"/>
                <a:ea typeface="Kantumruy Pro"/>
                <a:cs typeface="Kantumruy Pro"/>
                <a:sym typeface="Kantumruy Pro"/>
              </a:rPr>
              <a:t>ន័</a:t>
            </a:r>
            <a:r>
              <a:rPr lang="en" sz="1600">
                <a:solidFill>
                  <a:schemeClr val="dk1"/>
                </a:solidFill>
                <a:latin typeface="Kantumruy Pro"/>
                <a:ea typeface="Kantumruy Pro"/>
                <a:cs typeface="Kantumruy Pro"/>
                <a:sym typeface="Kantumruy Pro"/>
              </a:rPr>
              <a:t>យនានាដែលទាក់ទងនឹងអាជីវកម្មយ៉ាងមានប្រសិទ្ធភាព</a:t>
            </a:r>
            <a:endParaRPr sz="1600">
              <a:solidFill>
                <a:schemeClr val="dk1"/>
              </a:solidFill>
              <a:latin typeface="Kantumruy Pro"/>
              <a:ea typeface="Kantumruy Pro"/>
              <a:cs typeface="Kantumruy Pro"/>
              <a:sym typeface="Kantumruy Pro"/>
            </a:endParaRPr>
          </a:p>
          <a:p>
            <a:pPr indent="0" lvl="0" marL="0" rtl="0" algn="l">
              <a:lnSpc>
                <a:spcPct val="162533"/>
              </a:lnSpc>
              <a:spcBef>
                <a:spcPts val="0"/>
              </a:spcBef>
              <a:spcAft>
                <a:spcPts val="0"/>
              </a:spcAft>
              <a:buClr>
                <a:schemeClr val="dk1"/>
              </a:buClr>
              <a:buSzPts val="1100"/>
              <a:buFont typeface="Arial"/>
              <a:buNone/>
            </a:pPr>
            <a:r>
              <a:rPr lang="en" sz="1600">
                <a:solidFill>
                  <a:schemeClr val="dk1"/>
                </a:solidFill>
                <a:latin typeface="Kantumruy Pro"/>
                <a:ea typeface="Kantumruy Pro"/>
                <a:cs typeface="Kantumruy Pro"/>
                <a:sym typeface="Kantumruy Pro"/>
              </a:rPr>
              <a:t>និងប្រើប្រាស់បានងាយស្រួល រួមមាន</a:t>
            </a:r>
            <a:r>
              <a:rPr lang="en" sz="1800">
                <a:solidFill>
                  <a:schemeClr val="dk1"/>
                </a:solidFill>
                <a:latin typeface="Kantumruy Pro"/>
                <a:ea typeface="Kantumruy Pro"/>
                <a:cs typeface="Kantumruy Pro"/>
                <a:sym typeface="Kantumruy Pro"/>
              </a:rPr>
              <a:t>៖</a:t>
            </a:r>
            <a:endParaRPr sz="1600">
              <a:solidFill>
                <a:schemeClr val="dk1"/>
              </a:solidFill>
              <a:latin typeface="Kantumruy Pro"/>
              <a:ea typeface="Kantumruy Pro"/>
              <a:cs typeface="Kantumruy Pro"/>
              <a:sym typeface="Kantumruy Pro"/>
            </a:endParaRPr>
          </a:p>
          <a:p>
            <a:pPr indent="0" lvl="0" marL="0" rtl="0" algn="l">
              <a:lnSpc>
                <a:spcPct val="162533"/>
              </a:lnSpc>
              <a:spcBef>
                <a:spcPts val="0"/>
              </a:spcBef>
              <a:spcAft>
                <a:spcPts val="0"/>
              </a:spcAft>
              <a:buClr>
                <a:srgbClr val="374151"/>
              </a:buClr>
              <a:buSzPts val="1100"/>
              <a:buFont typeface="Arial"/>
              <a:buNone/>
            </a:pPr>
            <a:r>
              <a:t/>
            </a:r>
            <a:endParaRPr sz="1600">
              <a:solidFill>
                <a:schemeClr val="dk1"/>
              </a:solidFill>
              <a:latin typeface="Kantumruy Pro"/>
              <a:ea typeface="Kantumruy Pro"/>
              <a:cs typeface="Kantumruy Pro"/>
              <a:sym typeface="Kantumruy Pro"/>
            </a:endParaRPr>
          </a:p>
        </p:txBody>
      </p:sp>
      <p:sp>
        <p:nvSpPr>
          <p:cNvPr id="92" name="Google Shape;9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3" name="Google Shape;93;p16"/>
          <p:cNvSpPr txBox="1"/>
          <p:nvPr/>
        </p:nvSpPr>
        <p:spPr>
          <a:xfrm>
            <a:off x="653250" y="2432200"/>
            <a:ext cx="6844500" cy="859800"/>
          </a:xfrm>
          <a:prstGeom prst="rect">
            <a:avLst/>
          </a:prstGeom>
          <a:no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1"/>
              </a:solidFill>
            </a:endParaRPr>
          </a:p>
        </p:txBody>
      </p:sp>
      <p:sp>
        <p:nvSpPr>
          <p:cNvPr id="94" name="Google Shape;94;p16"/>
          <p:cNvSpPr txBox="1"/>
          <p:nvPr/>
        </p:nvSpPr>
        <p:spPr>
          <a:xfrm>
            <a:off x="1712750" y="2450800"/>
            <a:ext cx="5461500" cy="762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ការគ្រប់គ្រងព័ត៌មានអំពី ផលិតផល (Products) ដូចជា ឈ្មោះ តម្លៃ ឯកតា និងស្ថានភាពលក់។</a:t>
            </a:r>
            <a:endParaRPr sz="1500">
              <a:solidFill>
                <a:schemeClr val="dk1"/>
              </a:solidFill>
              <a:latin typeface="Kantumruy Pro"/>
              <a:ea typeface="Kantumruy Pro"/>
              <a:cs typeface="Kantumruy Pro"/>
              <a:sym typeface="Kantumruy Pro"/>
            </a:endParaRPr>
          </a:p>
        </p:txBody>
      </p:sp>
      <p:sp>
        <p:nvSpPr>
          <p:cNvPr id="95" name="Google Shape;95;p16"/>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ធិន​ សុីវធាន - Then Sivthean</a:t>
            </a:r>
            <a:endParaRPr b="1" i="1">
              <a:solidFill>
                <a:srgbClr val="741B47"/>
              </a:solidFill>
            </a:endParaRPr>
          </a:p>
        </p:txBody>
      </p:sp>
      <p:pic>
        <p:nvPicPr>
          <p:cNvPr id="96" name="Google Shape;96;p16"/>
          <p:cNvPicPr preferRelativeResize="0"/>
          <p:nvPr/>
        </p:nvPicPr>
        <p:blipFill>
          <a:blip r:embed="rId4">
            <a:alphaModFix/>
          </a:blip>
          <a:stretch>
            <a:fillRect/>
          </a:stretch>
        </p:blipFill>
        <p:spPr>
          <a:xfrm>
            <a:off x="807522" y="2480058"/>
            <a:ext cx="674100" cy="674100"/>
          </a:xfrm>
          <a:prstGeom prst="rect">
            <a:avLst/>
          </a:prstGeom>
          <a:noFill/>
          <a:ln>
            <a:noFill/>
          </a:ln>
        </p:spPr>
      </p:pic>
      <p:sp>
        <p:nvSpPr>
          <p:cNvPr id="97" name="Google Shape;97;p16"/>
          <p:cNvSpPr txBox="1"/>
          <p:nvPr/>
        </p:nvSpPr>
        <p:spPr>
          <a:xfrm>
            <a:off x="670727" y="3462919"/>
            <a:ext cx="6844500" cy="859800"/>
          </a:xfrm>
          <a:prstGeom prst="rect">
            <a:avLst/>
          </a:prstGeom>
          <a:no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1"/>
              </a:solidFill>
            </a:endParaRPr>
          </a:p>
        </p:txBody>
      </p:sp>
      <p:sp>
        <p:nvSpPr>
          <p:cNvPr id="98" name="Google Shape;98;p16"/>
          <p:cNvSpPr txBox="1"/>
          <p:nvPr/>
        </p:nvSpPr>
        <p:spPr>
          <a:xfrm>
            <a:off x="1730227" y="3481519"/>
            <a:ext cx="5461500" cy="762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ការគ្រប់គ្រង អតិថិជន (Customers) និង អ្នកផ្គត់ផ្គង់ (Suppliers)</a:t>
            </a:r>
            <a:endParaRPr sz="1500">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ដើម្បីរក្សាទំនាក់ទំនងក្នុងការទិញ និងលក់។</a:t>
            </a:r>
            <a:endParaRPr sz="1500">
              <a:solidFill>
                <a:schemeClr val="dk1"/>
              </a:solidFill>
              <a:latin typeface="Kantumruy Pro"/>
              <a:ea typeface="Kantumruy Pro"/>
              <a:cs typeface="Kantumruy Pro"/>
              <a:sym typeface="Kantumruy Pro"/>
            </a:endParaRPr>
          </a:p>
        </p:txBody>
      </p:sp>
      <p:pic>
        <p:nvPicPr>
          <p:cNvPr id="99" name="Google Shape;99;p16"/>
          <p:cNvPicPr preferRelativeResize="0"/>
          <p:nvPr/>
        </p:nvPicPr>
        <p:blipFill>
          <a:blip r:embed="rId5">
            <a:alphaModFix/>
          </a:blip>
          <a:stretch>
            <a:fillRect/>
          </a:stretch>
        </p:blipFill>
        <p:spPr>
          <a:xfrm>
            <a:off x="821457" y="3543209"/>
            <a:ext cx="674100" cy="674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7"/>
          <p:cNvPicPr preferRelativeResize="0"/>
          <p:nvPr/>
        </p:nvPicPr>
        <p:blipFill>
          <a:blip r:embed="rId3">
            <a:alphaModFix amt="5000"/>
          </a:blip>
          <a:stretch>
            <a:fillRect/>
          </a:stretch>
        </p:blipFill>
        <p:spPr>
          <a:xfrm>
            <a:off x="835818" y="266622"/>
            <a:ext cx="7942200" cy="4275628"/>
          </a:xfrm>
          <a:prstGeom prst="rect">
            <a:avLst/>
          </a:prstGeom>
          <a:noFill/>
          <a:ln>
            <a:noFill/>
          </a:ln>
        </p:spPr>
      </p:pic>
      <p:sp>
        <p:nvSpPr>
          <p:cNvPr id="105" name="Google Shape;105;p17"/>
          <p:cNvSpPr txBox="1"/>
          <p:nvPr>
            <p:ph idx="12" type="sldNum"/>
          </p:nvPr>
        </p:nvSpPr>
        <p:spPr>
          <a:xfrm>
            <a:off x="8903351"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6" name="Google Shape;106;p17"/>
          <p:cNvSpPr txBox="1"/>
          <p:nvPr/>
        </p:nvSpPr>
        <p:spPr>
          <a:xfrm>
            <a:off x="1084143" y="368554"/>
            <a:ext cx="6844500" cy="859800"/>
          </a:xfrm>
          <a:prstGeom prst="rect">
            <a:avLst/>
          </a:prstGeom>
          <a:no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1"/>
              </a:solidFill>
            </a:endParaRPr>
          </a:p>
        </p:txBody>
      </p:sp>
      <p:sp>
        <p:nvSpPr>
          <p:cNvPr id="107" name="Google Shape;107;p17"/>
          <p:cNvSpPr txBox="1"/>
          <p:nvPr/>
        </p:nvSpPr>
        <p:spPr>
          <a:xfrm>
            <a:off x="2143643" y="387154"/>
            <a:ext cx="5461500" cy="1108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ការកត់ត្រា ការទិញ (Purchases) និង ការលក់ (Sales) ដើម្បីទាញយករបាយការណ៍និងតាមដានប្រតិបត្តិការរបស់ហាង។</a:t>
            </a:r>
            <a:endParaRPr sz="1500">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t/>
            </a:r>
            <a:endParaRPr sz="1500">
              <a:solidFill>
                <a:schemeClr val="dk1"/>
              </a:solidFill>
              <a:latin typeface="Kantumruy Pro"/>
              <a:ea typeface="Kantumruy Pro"/>
              <a:cs typeface="Kantumruy Pro"/>
              <a:sym typeface="Kantumruy Pro"/>
            </a:endParaRPr>
          </a:p>
        </p:txBody>
      </p:sp>
      <p:sp>
        <p:nvSpPr>
          <p:cNvPr id="108" name="Google Shape;108;p17"/>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ធិន​ សុីវធាន - Then Sivthean</a:t>
            </a:r>
            <a:endParaRPr b="1" i="1">
              <a:solidFill>
                <a:srgbClr val="741B47"/>
              </a:solidFill>
            </a:endParaRPr>
          </a:p>
        </p:txBody>
      </p:sp>
      <p:sp>
        <p:nvSpPr>
          <p:cNvPr id="109" name="Google Shape;109;p17"/>
          <p:cNvSpPr txBox="1"/>
          <p:nvPr/>
        </p:nvSpPr>
        <p:spPr>
          <a:xfrm>
            <a:off x="1101620" y="1399273"/>
            <a:ext cx="6844500" cy="859800"/>
          </a:xfrm>
          <a:prstGeom prst="rect">
            <a:avLst/>
          </a:prstGeom>
          <a:no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1"/>
              </a:solidFill>
            </a:endParaRPr>
          </a:p>
        </p:txBody>
      </p:sp>
      <p:sp>
        <p:nvSpPr>
          <p:cNvPr id="110" name="Google Shape;110;p17"/>
          <p:cNvSpPr txBox="1"/>
          <p:nvPr/>
        </p:nvSpPr>
        <p:spPr>
          <a:xfrm>
            <a:off x="2161120" y="1417873"/>
            <a:ext cx="5461500" cy="762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ការគ្រប់គ្រង បុគ្គលិក (Employees) និងតួនាទី (Roles) ដើម្បីកំណត់សិទ្ធិប្រើប្រាស់ប្រព័ន្ធ។</a:t>
            </a:r>
            <a:endParaRPr sz="1500">
              <a:solidFill>
                <a:schemeClr val="dk1"/>
              </a:solidFill>
              <a:latin typeface="Kantumruy Pro"/>
              <a:ea typeface="Kantumruy Pro"/>
              <a:cs typeface="Kantumruy Pro"/>
              <a:sym typeface="Kantumruy Pro"/>
            </a:endParaRPr>
          </a:p>
        </p:txBody>
      </p:sp>
      <p:pic>
        <p:nvPicPr>
          <p:cNvPr id="111" name="Google Shape;111;p17"/>
          <p:cNvPicPr preferRelativeResize="0"/>
          <p:nvPr/>
        </p:nvPicPr>
        <p:blipFill>
          <a:blip r:embed="rId4">
            <a:alphaModFix/>
          </a:blip>
          <a:stretch>
            <a:fillRect/>
          </a:stretch>
        </p:blipFill>
        <p:spPr>
          <a:xfrm>
            <a:off x="1235306" y="448212"/>
            <a:ext cx="674100" cy="674100"/>
          </a:xfrm>
          <a:prstGeom prst="rect">
            <a:avLst/>
          </a:prstGeom>
          <a:noFill/>
          <a:ln>
            <a:noFill/>
          </a:ln>
        </p:spPr>
      </p:pic>
      <p:pic>
        <p:nvPicPr>
          <p:cNvPr id="112" name="Google Shape;112;p17"/>
          <p:cNvPicPr preferRelativeResize="0"/>
          <p:nvPr/>
        </p:nvPicPr>
        <p:blipFill>
          <a:blip r:embed="rId5">
            <a:alphaModFix/>
          </a:blip>
          <a:stretch>
            <a:fillRect/>
          </a:stretch>
        </p:blipFill>
        <p:spPr>
          <a:xfrm>
            <a:off x="1133268" y="1386715"/>
            <a:ext cx="859800" cy="859800"/>
          </a:xfrm>
          <a:prstGeom prst="rect">
            <a:avLst/>
          </a:prstGeom>
          <a:noFill/>
          <a:ln>
            <a:noFill/>
          </a:ln>
        </p:spPr>
      </p:pic>
      <p:sp>
        <p:nvSpPr>
          <p:cNvPr id="113" name="Google Shape;113;p17"/>
          <p:cNvSpPr txBox="1"/>
          <p:nvPr/>
        </p:nvSpPr>
        <p:spPr>
          <a:xfrm>
            <a:off x="1101620" y="2446569"/>
            <a:ext cx="6844500" cy="859800"/>
          </a:xfrm>
          <a:prstGeom prst="rect">
            <a:avLst/>
          </a:prstGeom>
          <a:no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1"/>
              </a:solidFill>
            </a:endParaRPr>
          </a:p>
        </p:txBody>
      </p:sp>
      <p:sp>
        <p:nvSpPr>
          <p:cNvPr id="114" name="Google Shape;114;p17"/>
          <p:cNvSpPr txBox="1"/>
          <p:nvPr/>
        </p:nvSpPr>
        <p:spPr>
          <a:xfrm>
            <a:off x="2161120" y="2465169"/>
            <a:ext cx="5461500" cy="762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ការគ្រប់គ្រង សារពើភ័ណ្ឌ (Inventory) ដើម្បីដឹងពីបរិមាណទំនិញនៅក្នុងស្តុក</a:t>
            </a:r>
            <a:endParaRPr sz="1500">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និងការបញ្ជាទិញបន្ថែម។</a:t>
            </a:r>
            <a:endParaRPr sz="1500">
              <a:solidFill>
                <a:schemeClr val="dk1"/>
              </a:solidFill>
              <a:latin typeface="Kantumruy Pro"/>
              <a:ea typeface="Kantumruy Pro"/>
              <a:cs typeface="Kantumruy Pro"/>
              <a:sym typeface="Kantumruy Pro"/>
            </a:endParaRPr>
          </a:p>
        </p:txBody>
      </p:sp>
      <p:pic>
        <p:nvPicPr>
          <p:cNvPr id="115" name="Google Shape;115;p17"/>
          <p:cNvPicPr preferRelativeResize="0"/>
          <p:nvPr/>
        </p:nvPicPr>
        <p:blipFill>
          <a:blip r:embed="rId6">
            <a:alphaModFix/>
          </a:blip>
          <a:stretch>
            <a:fillRect/>
          </a:stretch>
        </p:blipFill>
        <p:spPr>
          <a:xfrm>
            <a:off x="1269336" y="2499196"/>
            <a:ext cx="762001" cy="762001"/>
          </a:xfrm>
          <a:prstGeom prst="rect">
            <a:avLst/>
          </a:prstGeom>
          <a:noFill/>
          <a:ln>
            <a:noFill/>
          </a:ln>
        </p:spPr>
      </p:pic>
      <p:sp>
        <p:nvSpPr>
          <p:cNvPr id="116" name="Google Shape;116;p17"/>
          <p:cNvSpPr txBox="1"/>
          <p:nvPr/>
        </p:nvSpPr>
        <p:spPr>
          <a:xfrm>
            <a:off x="1084143" y="3591463"/>
            <a:ext cx="6844500" cy="859800"/>
          </a:xfrm>
          <a:prstGeom prst="rect">
            <a:avLst/>
          </a:prstGeom>
          <a:noFill/>
          <a:ln cap="flat" cmpd="sng" w="19050">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1"/>
              </a:solidFill>
            </a:endParaRPr>
          </a:p>
        </p:txBody>
      </p:sp>
      <p:sp>
        <p:nvSpPr>
          <p:cNvPr id="117" name="Google Shape;117;p17"/>
          <p:cNvSpPr txBox="1"/>
          <p:nvPr/>
        </p:nvSpPr>
        <p:spPr>
          <a:xfrm>
            <a:off x="2143643" y="3610063"/>
            <a:ext cx="5461500" cy="762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ការកត់ត្រា ការទូទាត់ (Payments) ដើម្បីតាមដានប្រាក់ចូលចេញ</a:t>
            </a:r>
            <a:endParaRPr sz="1500">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និងស្ថានភាពនៃការបង់ប្រាក់។</a:t>
            </a:r>
            <a:endParaRPr sz="1500">
              <a:solidFill>
                <a:schemeClr val="dk1"/>
              </a:solidFill>
              <a:latin typeface="Kantumruy Pro"/>
              <a:ea typeface="Kantumruy Pro"/>
              <a:cs typeface="Kantumruy Pro"/>
              <a:sym typeface="Kantumruy Pro"/>
            </a:endParaRPr>
          </a:p>
        </p:txBody>
      </p:sp>
      <p:pic>
        <p:nvPicPr>
          <p:cNvPr id="118" name="Google Shape;118;p17"/>
          <p:cNvPicPr preferRelativeResize="0"/>
          <p:nvPr/>
        </p:nvPicPr>
        <p:blipFill>
          <a:blip r:embed="rId7">
            <a:alphaModFix/>
          </a:blip>
          <a:stretch>
            <a:fillRect/>
          </a:stretch>
        </p:blipFill>
        <p:spPr>
          <a:xfrm>
            <a:off x="1231543" y="3640362"/>
            <a:ext cx="761999" cy="761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idx="1" type="subTitle"/>
          </p:nvPr>
        </p:nvSpPr>
        <p:spPr>
          <a:xfrm>
            <a:off x="405126" y="-23800"/>
            <a:ext cx="5978100" cy="674100"/>
          </a:xfrm>
          <a:prstGeom prst="rect">
            <a:avLst/>
          </a:prstGeom>
        </p:spPr>
        <p:txBody>
          <a:bodyPr anchorCtr="0" anchor="t" bIns="91425" lIns="91425" spcFirstLastPara="1" rIns="91425" wrap="square" tIns="91425">
            <a:noAutofit/>
          </a:bodyPr>
          <a:lstStyle/>
          <a:p>
            <a:pPr indent="-387350" lvl="0" marL="457200" rtl="0" algn="l">
              <a:lnSpc>
                <a:spcPct val="150000"/>
              </a:lnSpc>
              <a:spcBef>
                <a:spcPts val="0"/>
              </a:spcBef>
              <a:spcAft>
                <a:spcPts val="0"/>
              </a:spcAft>
              <a:buClr>
                <a:schemeClr val="dk1"/>
              </a:buClr>
              <a:buSzPts val="2500"/>
              <a:buFont typeface="Kantumruy Pro"/>
              <a:buAutoNum type="arabicPeriod" startAt="2"/>
            </a:pPr>
            <a:r>
              <a:rPr b="1" lang="en" sz="2500">
                <a:solidFill>
                  <a:schemeClr val="dk1"/>
                </a:solidFill>
                <a:latin typeface="Kantumruy Pro"/>
                <a:ea typeface="Kantumruy Pro"/>
                <a:cs typeface="Kantumruy Pro"/>
                <a:sym typeface="Kantumruy Pro"/>
              </a:rPr>
              <a:t>Form</a:t>
            </a:r>
            <a:endParaRPr b="1" sz="2500">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None/>
            </a:pPr>
            <a:r>
              <a:t/>
            </a:r>
            <a:endParaRPr b="1" sz="2500">
              <a:solidFill>
                <a:schemeClr val="dk1"/>
              </a:solidFill>
              <a:latin typeface="Kantumruy Pro"/>
              <a:ea typeface="Kantumruy Pro"/>
              <a:cs typeface="Kantumruy Pro"/>
              <a:sym typeface="Kantumruy Pro"/>
            </a:endParaRPr>
          </a:p>
        </p:txBody>
      </p:sp>
      <p:sp>
        <p:nvSpPr>
          <p:cNvPr id="124" name="Google Shape;12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5" name="Google Shape;125;p18"/>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អន ភក្តី - Orn Pheakdey</a:t>
            </a:r>
            <a:endParaRPr b="1" i="1">
              <a:solidFill>
                <a:srgbClr val="741B47"/>
              </a:solidFill>
            </a:endParaRPr>
          </a:p>
        </p:txBody>
      </p:sp>
      <p:pic>
        <p:nvPicPr>
          <p:cNvPr id="126" name="Google Shape;126;p18" title="FormEmployee.PNG"/>
          <p:cNvPicPr preferRelativeResize="0"/>
          <p:nvPr/>
        </p:nvPicPr>
        <p:blipFill>
          <a:blip r:embed="rId3">
            <a:alphaModFix/>
          </a:blip>
          <a:stretch>
            <a:fillRect/>
          </a:stretch>
        </p:blipFill>
        <p:spPr>
          <a:xfrm>
            <a:off x="2319579" y="680368"/>
            <a:ext cx="6692474" cy="3560525"/>
          </a:xfrm>
          <a:prstGeom prst="rect">
            <a:avLst/>
          </a:prstGeom>
          <a:noFill/>
          <a:ln cap="flat" cmpd="sng" w="9525">
            <a:solidFill>
              <a:schemeClr val="dk2"/>
            </a:solidFill>
            <a:prstDash val="solid"/>
            <a:round/>
            <a:headEnd len="sm" w="sm" type="none"/>
            <a:tailEnd len="sm" w="sm" type="none"/>
          </a:ln>
        </p:spPr>
      </p:pic>
      <p:sp>
        <p:nvSpPr>
          <p:cNvPr id="127" name="Google Shape;127;p18"/>
          <p:cNvSpPr txBox="1"/>
          <p:nvPr/>
        </p:nvSpPr>
        <p:spPr>
          <a:xfrm>
            <a:off x="393786" y="1162407"/>
            <a:ext cx="1919400" cy="1454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FormEmployee អនុញ្ញាត​ឱ្យ​អ្នក​ប្រើ</a:t>
            </a:r>
            <a:endParaRPr sz="1500">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​មើល ថែម កែប្រែ និង​ លុប​ ព័ត៌មាន​ បុគ្គលិក។</a:t>
            </a:r>
            <a:endParaRPr sz="1500">
              <a:solidFill>
                <a:schemeClr val="dk1"/>
              </a:solidFill>
              <a:latin typeface="Kantumruy Pro"/>
              <a:ea typeface="Kantumruy Pro"/>
              <a:cs typeface="Kantumruy Pro"/>
              <a:sym typeface="Kantumruy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19"/>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អន ភក្តី - Orn Pheakdey</a:t>
            </a:r>
            <a:endParaRPr b="1" i="1">
              <a:solidFill>
                <a:srgbClr val="741B47"/>
              </a:solidFill>
            </a:endParaRPr>
          </a:p>
        </p:txBody>
      </p:sp>
      <p:sp>
        <p:nvSpPr>
          <p:cNvPr id="134" name="Google Shape;134;p19"/>
          <p:cNvSpPr txBox="1"/>
          <p:nvPr/>
        </p:nvSpPr>
        <p:spPr>
          <a:xfrm>
            <a:off x="166996" y="1162407"/>
            <a:ext cx="1942200" cy="2016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Kantumruy Pro"/>
                <a:ea typeface="Kantumruy Pro"/>
                <a:cs typeface="Kantumruy Pro"/>
                <a:sym typeface="Kantumruy Pro"/>
              </a:rPr>
              <a:t>FormCustomer អនុញ្ញាត​ឱ្យ​អ្នក​ប្រើ​ប្រាស់​</a:t>
            </a:r>
            <a:endParaRPr>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Kantumruy Pro"/>
                <a:ea typeface="Kantumruy Pro"/>
                <a:cs typeface="Kantumruy Pro"/>
                <a:sym typeface="Kantumruy Pro"/>
              </a:rPr>
              <a:t>មើល កែប្រែ និង​ បន្ថែម​ ព័ត៌មាន​លម្អិត​របស់</a:t>
            </a:r>
            <a:endParaRPr>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Kantumruy Pro"/>
                <a:ea typeface="Kantumruy Pro"/>
                <a:cs typeface="Kantumruy Pro"/>
                <a:sym typeface="Kantumruy Pro"/>
              </a:rPr>
              <a:t>អតិថិជន​ទាំងអស់។</a:t>
            </a:r>
            <a:endParaRPr>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Kantumruy Pro"/>
              <a:ea typeface="Kantumruy Pro"/>
              <a:cs typeface="Kantumruy Pro"/>
              <a:sym typeface="Kantumruy Pro"/>
            </a:endParaRPr>
          </a:p>
        </p:txBody>
      </p:sp>
      <p:pic>
        <p:nvPicPr>
          <p:cNvPr id="135" name="Google Shape;135;p19" title="FormCustomer.PNG"/>
          <p:cNvPicPr preferRelativeResize="0"/>
          <p:nvPr/>
        </p:nvPicPr>
        <p:blipFill>
          <a:blip r:embed="rId3">
            <a:alphaModFix/>
          </a:blip>
          <a:stretch>
            <a:fillRect/>
          </a:stretch>
        </p:blipFill>
        <p:spPr>
          <a:xfrm>
            <a:off x="1926375" y="401850"/>
            <a:ext cx="7111049" cy="38957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1" name="Google Shape;141;p20"/>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អន ភក្តី - Orn Pheakdey</a:t>
            </a:r>
            <a:endParaRPr b="1" i="1">
              <a:solidFill>
                <a:srgbClr val="741B47"/>
              </a:solidFill>
            </a:endParaRPr>
          </a:p>
        </p:txBody>
      </p:sp>
      <p:sp>
        <p:nvSpPr>
          <p:cNvPr id="142" name="Google Shape;142;p20"/>
          <p:cNvSpPr txBox="1"/>
          <p:nvPr/>
        </p:nvSpPr>
        <p:spPr>
          <a:xfrm>
            <a:off x="178336" y="1162407"/>
            <a:ext cx="1942200" cy="2016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Kantumruy Pro"/>
                <a:ea typeface="Kantumruy Pro"/>
                <a:cs typeface="Kantumruy Pro"/>
                <a:sym typeface="Kantumruy Pro"/>
              </a:rPr>
              <a:t>Form ការ​ទូទាត់​ប្រាក់</a:t>
            </a:r>
            <a:endParaRPr>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Kantumruy Pro"/>
                <a:ea typeface="Kantumruy Pro"/>
                <a:cs typeface="Kantumruy Pro"/>
                <a:sym typeface="Kantumruy Pro"/>
              </a:rPr>
              <a:t>(FormPayment) ជា​កន្លែង​សម្រាប់​ </a:t>
            </a:r>
            <a:endParaRPr>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Kantumruy Pro"/>
                <a:ea typeface="Kantumruy Pro"/>
                <a:cs typeface="Kantumruy Pro"/>
                <a:sym typeface="Kantumruy Pro"/>
              </a:rPr>
              <a:t>កត់ត្រា និង​គ្រប់គ្រង​ ប្រតិបត្តិការ​ទូទាត់​នានា។</a:t>
            </a:r>
            <a:endParaRPr>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Kantumruy Pro"/>
              <a:ea typeface="Kantumruy Pro"/>
              <a:cs typeface="Kantumruy Pro"/>
              <a:sym typeface="Kantumruy Pro"/>
            </a:endParaRPr>
          </a:p>
        </p:txBody>
      </p:sp>
      <p:pic>
        <p:nvPicPr>
          <p:cNvPr id="143" name="Google Shape;143;p20" title="FormPayment.PNG"/>
          <p:cNvPicPr preferRelativeResize="0"/>
          <p:nvPr/>
        </p:nvPicPr>
        <p:blipFill>
          <a:blip r:embed="rId3">
            <a:alphaModFix/>
          </a:blip>
          <a:stretch>
            <a:fillRect/>
          </a:stretch>
        </p:blipFill>
        <p:spPr>
          <a:xfrm>
            <a:off x="1979743" y="422318"/>
            <a:ext cx="7091701" cy="35577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1"/>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អន ភក្តី - Orn Pheakdey</a:t>
            </a:r>
            <a:endParaRPr b="1" i="1">
              <a:solidFill>
                <a:srgbClr val="741B47"/>
              </a:solidFill>
            </a:endParaRPr>
          </a:p>
        </p:txBody>
      </p:sp>
      <p:sp>
        <p:nvSpPr>
          <p:cNvPr id="150" name="Google Shape;150;p21"/>
          <p:cNvSpPr txBox="1"/>
          <p:nvPr/>
        </p:nvSpPr>
        <p:spPr>
          <a:xfrm>
            <a:off x="238125" y="1445900"/>
            <a:ext cx="2642100" cy="1454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FormSale ប្រើ​សម្រាប់​កត់ត្រា</a:t>
            </a:r>
            <a:endParaRPr sz="1500">
              <a:solidFill>
                <a:schemeClr val="dk1"/>
              </a:solidFill>
              <a:latin typeface="Kantumruy Pro"/>
              <a:ea typeface="Kantumruy Pro"/>
              <a:cs typeface="Kantumruy Pro"/>
              <a:sym typeface="Kantumruy Pro"/>
            </a:endParaRPr>
          </a:p>
          <a:p>
            <a:pPr indent="0" lvl="0" marL="0" rtl="0" algn="l">
              <a:lnSpc>
                <a:spcPct val="150000"/>
              </a:lnSpc>
              <a:spcBef>
                <a:spcPts val="0"/>
              </a:spcBef>
              <a:spcAft>
                <a:spcPts val="0"/>
              </a:spcAft>
              <a:buClr>
                <a:schemeClr val="dk1"/>
              </a:buClr>
              <a:buSzPts val="1100"/>
              <a:buFont typeface="Arial"/>
              <a:buNone/>
            </a:pPr>
            <a:r>
              <a:rPr lang="en" sz="1500">
                <a:solidFill>
                  <a:schemeClr val="dk1"/>
                </a:solidFill>
                <a:latin typeface="Kantumruy Pro"/>
                <a:ea typeface="Kantumruy Pro"/>
                <a:cs typeface="Kantumruy Pro"/>
                <a:sym typeface="Kantumruy Pro"/>
              </a:rPr>
              <a:t>​រាល់​ប្រតិបត្តិការ​លក់​ទំនិញ ឬ​ សេវាកម្ម​ទៅ​ឱ្យ​អតិថិជន (Customers)។</a:t>
            </a:r>
            <a:endParaRPr sz="1500">
              <a:solidFill>
                <a:schemeClr val="dk1"/>
              </a:solidFill>
              <a:latin typeface="Kantumruy Pro"/>
              <a:ea typeface="Kantumruy Pro"/>
              <a:cs typeface="Kantumruy Pro"/>
              <a:sym typeface="Kantumruy Pro"/>
            </a:endParaRPr>
          </a:p>
        </p:txBody>
      </p:sp>
      <p:pic>
        <p:nvPicPr>
          <p:cNvPr id="151" name="Google Shape;151;p21" title="FormSale.PNG"/>
          <p:cNvPicPr preferRelativeResize="0"/>
          <p:nvPr/>
        </p:nvPicPr>
        <p:blipFill>
          <a:blip r:embed="rId3">
            <a:alphaModFix/>
          </a:blip>
          <a:stretch>
            <a:fillRect/>
          </a:stretch>
        </p:blipFill>
        <p:spPr>
          <a:xfrm>
            <a:off x="2620999" y="85875"/>
            <a:ext cx="6304276" cy="49709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2"/>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ស៊ូ ចាន់រ៉ូជែម​ - Sou Chanrojame</a:t>
            </a:r>
            <a:endParaRPr b="1" i="1">
              <a:solidFill>
                <a:srgbClr val="741B47"/>
              </a:solidFill>
            </a:endParaRPr>
          </a:p>
        </p:txBody>
      </p:sp>
      <p:sp>
        <p:nvSpPr>
          <p:cNvPr id="158" name="Google Shape;158;p22"/>
          <p:cNvSpPr txBox="1"/>
          <p:nvPr>
            <p:ph idx="1" type="subTitle"/>
          </p:nvPr>
        </p:nvSpPr>
        <p:spPr>
          <a:xfrm>
            <a:off x="405126" y="-23800"/>
            <a:ext cx="5978100" cy="674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2500">
                <a:solidFill>
                  <a:schemeClr val="dk1"/>
                </a:solidFill>
                <a:latin typeface="Kantumruy Pro"/>
                <a:ea typeface="Kantumruy Pro"/>
                <a:cs typeface="Kantumruy Pro"/>
                <a:sym typeface="Kantumruy Pro"/>
              </a:rPr>
              <a:t>3. លក្ខណៈ OOP</a:t>
            </a:r>
            <a:endParaRPr b="1" sz="2500">
              <a:solidFill>
                <a:schemeClr val="dk1"/>
              </a:solidFill>
              <a:latin typeface="Kantumruy Pro"/>
              <a:ea typeface="Kantumruy Pro"/>
              <a:cs typeface="Kantumruy Pro"/>
              <a:sym typeface="Kantumruy Pro"/>
            </a:endParaRPr>
          </a:p>
        </p:txBody>
      </p:sp>
      <p:pic>
        <p:nvPicPr>
          <p:cNvPr id="159" name="Google Shape;159;p22" title="Employee.png"/>
          <p:cNvPicPr preferRelativeResize="0"/>
          <p:nvPr/>
        </p:nvPicPr>
        <p:blipFill>
          <a:blip r:embed="rId3">
            <a:alphaModFix/>
          </a:blip>
          <a:stretch>
            <a:fillRect/>
          </a:stretch>
        </p:blipFill>
        <p:spPr>
          <a:xfrm>
            <a:off x="4020182" y="-1401825"/>
            <a:ext cx="4756400" cy="6391101"/>
          </a:xfrm>
          <a:prstGeom prst="rect">
            <a:avLst/>
          </a:prstGeom>
          <a:noFill/>
          <a:ln>
            <a:noFill/>
          </a:ln>
        </p:spPr>
      </p:pic>
      <p:sp>
        <p:nvSpPr>
          <p:cNvPr id="160" name="Google Shape;160;p22"/>
          <p:cNvSpPr txBox="1"/>
          <p:nvPr/>
        </p:nvSpPr>
        <p:spPr>
          <a:xfrm>
            <a:off x="631911" y="1177302"/>
            <a:ext cx="3197700" cy="28398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Class FormEmplyee ធ្វើការ Inherit ចេញពី Class Form នឹងមានទំនាក់ទំនង dependency ទៅនឹង Class MartMangementContext</a:t>
            </a:r>
            <a:endParaRPr sz="1500">
              <a:solidFill>
                <a:schemeClr val="dk1"/>
              </a:solidFill>
              <a:latin typeface="Kantumruy Pro"/>
              <a:ea typeface="Kantumruy Pro"/>
              <a:cs typeface="Kantumruy Pro"/>
              <a:sym typeface="Kantumruy Pro"/>
            </a:endParaRPr>
          </a:p>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Class FormEmplyee មានទំនាក់ទំនង Aggregation ជាមួយនឹង Class Employee</a:t>
            </a:r>
            <a:endParaRPr sz="1500">
              <a:solidFill>
                <a:schemeClr val="dk1"/>
              </a:solidFill>
              <a:latin typeface="Kantumruy Pro"/>
              <a:ea typeface="Kantumruy Pro"/>
              <a:cs typeface="Kantumruy Pro"/>
              <a:sym typeface="Kantumruy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3"/>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ស៊ូ ចាន់រ៉ូជែម​ - Sou Chanrojame</a:t>
            </a:r>
            <a:endParaRPr b="1" i="1">
              <a:solidFill>
                <a:srgbClr val="741B47"/>
              </a:solidFill>
            </a:endParaRPr>
          </a:p>
        </p:txBody>
      </p:sp>
      <p:sp>
        <p:nvSpPr>
          <p:cNvPr id="167" name="Google Shape;167;p23"/>
          <p:cNvSpPr txBox="1"/>
          <p:nvPr/>
        </p:nvSpPr>
        <p:spPr>
          <a:xfrm>
            <a:off x="631911" y="769088"/>
            <a:ext cx="3197700" cy="28398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Class </a:t>
            </a:r>
            <a:r>
              <a:rPr lang="en" sz="1500">
                <a:solidFill>
                  <a:schemeClr val="dk1"/>
                </a:solidFill>
                <a:latin typeface="Kantumruy Pro"/>
                <a:ea typeface="Kantumruy Pro"/>
                <a:cs typeface="Kantumruy Pro"/>
                <a:sym typeface="Kantumruy Pro"/>
              </a:rPr>
              <a:t>FormCustomer ធ្វើការ Inherit ចេញពី Class Form នឹងមានទំនាក់ទំនង dependency ទៅនឹង Class MartMangementContext</a:t>
            </a:r>
            <a:endParaRPr sz="1500">
              <a:solidFill>
                <a:schemeClr val="dk1"/>
              </a:solidFill>
              <a:latin typeface="Kantumruy Pro"/>
              <a:ea typeface="Kantumruy Pro"/>
              <a:cs typeface="Kantumruy Pro"/>
              <a:sym typeface="Kantumruy Pro"/>
            </a:endParaRPr>
          </a:p>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Class FormCustomer មានទំនាក់ទំនង Aggregation ជាមួយនឹង Class Customer</a:t>
            </a:r>
            <a:endParaRPr sz="1500">
              <a:solidFill>
                <a:schemeClr val="dk1"/>
              </a:solidFill>
              <a:latin typeface="Kantumruy Pro"/>
              <a:ea typeface="Kantumruy Pro"/>
              <a:cs typeface="Kantumruy Pro"/>
              <a:sym typeface="Kantumruy Pro"/>
            </a:endParaRPr>
          </a:p>
        </p:txBody>
      </p:sp>
      <p:pic>
        <p:nvPicPr>
          <p:cNvPr id="168" name="Google Shape;168;p23" title="Customer.png"/>
          <p:cNvPicPr preferRelativeResize="0"/>
          <p:nvPr/>
        </p:nvPicPr>
        <p:blipFill>
          <a:blip r:embed="rId3">
            <a:alphaModFix/>
          </a:blip>
          <a:stretch>
            <a:fillRect/>
          </a:stretch>
        </p:blipFill>
        <p:spPr>
          <a:xfrm>
            <a:off x="4084919" y="-1259775"/>
            <a:ext cx="4659092" cy="6158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4"/>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ស៊ូ ចាន់រ៉ូជែម​ - Sou Chanrojame</a:t>
            </a:r>
            <a:endParaRPr b="1" i="1">
              <a:solidFill>
                <a:srgbClr val="741B47"/>
              </a:solidFill>
            </a:endParaRPr>
          </a:p>
        </p:txBody>
      </p:sp>
      <p:sp>
        <p:nvSpPr>
          <p:cNvPr id="175" name="Google Shape;175;p24"/>
          <p:cNvSpPr txBox="1"/>
          <p:nvPr/>
        </p:nvSpPr>
        <p:spPr>
          <a:xfrm>
            <a:off x="211326" y="373243"/>
            <a:ext cx="3197700" cy="38790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Class FormPayment ធ្វើការ Inherit ចេញពី Class Form នឹងមានទំនាក់ទំនង dependency ទៅនឹង Class MartMangementContext</a:t>
            </a:r>
            <a:endParaRPr sz="1500">
              <a:solidFill>
                <a:schemeClr val="dk1"/>
              </a:solidFill>
              <a:latin typeface="Kantumruy Pro"/>
              <a:ea typeface="Kantumruy Pro"/>
              <a:cs typeface="Kantumruy Pro"/>
              <a:sym typeface="Kantumruy Pro"/>
            </a:endParaRPr>
          </a:p>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Class FormPayment មានទំនាក់ទំនង Aggregation ជាមួយនឹង Class Payment</a:t>
            </a:r>
            <a:endParaRPr sz="1500">
              <a:solidFill>
                <a:schemeClr val="dk1"/>
              </a:solidFill>
              <a:latin typeface="Kantumruy Pro"/>
              <a:ea typeface="Kantumruy Pro"/>
              <a:cs typeface="Kantumruy Pro"/>
              <a:sym typeface="Kantumruy Pro"/>
            </a:endParaRPr>
          </a:p>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Class Payment មានទំនាក់ទំនង Aggregation ជាមួយនឹង Class Sale</a:t>
            </a:r>
            <a:endParaRPr sz="1500">
              <a:solidFill>
                <a:schemeClr val="dk1"/>
              </a:solidFill>
              <a:latin typeface="Kantumruy Pro"/>
              <a:ea typeface="Kantumruy Pro"/>
              <a:cs typeface="Kantumruy Pro"/>
              <a:sym typeface="Kantumruy Pro"/>
            </a:endParaRPr>
          </a:p>
        </p:txBody>
      </p:sp>
      <p:pic>
        <p:nvPicPr>
          <p:cNvPr id="176" name="Google Shape;176;p24" title="Payment.png"/>
          <p:cNvPicPr preferRelativeResize="0"/>
          <p:nvPr/>
        </p:nvPicPr>
        <p:blipFill>
          <a:blip r:embed="rId3">
            <a:alphaModFix/>
          </a:blip>
          <a:stretch>
            <a:fillRect/>
          </a:stretch>
        </p:blipFill>
        <p:spPr>
          <a:xfrm>
            <a:off x="3829600" y="-1584300"/>
            <a:ext cx="7014250" cy="6547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25"/>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ស៊ូ ចាន់រ៉ូជែម​ - Sou Chanrojame</a:t>
            </a:r>
            <a:endParaRPr b="1" i="1">
              <a:solidFill>
                <a:srgbClr val="741B47"/>
              </a:solidFill>
            </a:endParaRPr>
          </a:p>
        </p:txBody>
      </p:sp>
      <p:sp>
        <p:nvSpPr>
          <p:cNvPr id="183" name="Google Shape;183;p25"/>
          <p:cNvSpPr txBox="1"/>
          <p:nvPr/>
        </p:nvSpPr>
        <p:spPr>
          <a:xfrm>
            <a:off x="211326" y="373243"/>
            <a:ext cx="3197700" cy="3532500"/>
          </a:xfrm>
          <a:prstGeom prst="rect">
            <a:avLst/>
          </a:prstGeom>
          <a:noFill/>
          <a:ln>
            <a:noFill/>
          </a:ln>
        </p:spPr>
        <p:txBody>
          <a:bodyPr anchorCtr="0" anchor="t" bIns="91425" lIns="91425" spcFirstLastPara="1" rIns="91425" wrap="square" tIns="91425">
            <a:spAutoFit/>
          </a:bodyPr>
          <a:lstStyle/>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Seller ធ្វើការ sell product, add product</a:t>
            </a:r>
            <a:endParaRPr sz="1500">
              <a:solidFill>
                <a:schemeClr val="dk1"/>
              </a:solidFill>
              <a:latin typeface="Kantumruy Pro"/>
              <a:ea typeface="Kantumruy Pro"/>
              <a:cs typeface="Kantumruy Pro"/>
              <a:sym typeface="Kantumruy Pro"/>
            </a:endParaRPr>
          </a:p>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Purchaser </a:t>
            </a:r>
            <a:r>
              <a:rPr lang="en" sz="1500">
                <a:solidFill>
                  <a:schemeClr val="dk1"/>
                </a:solidFill>
                <a:latin typeface="Kantumruy Pro"/>
                <a:ea typeface="Kantumruy Pro"/>
                <a:cs typeface="Kantumruy Pro"/>
                <a:sym typeface="Kantumruy Pro"/>
              </a:rPr>
              <a:t>ធ្វើការ purchase product, add product </a:t>
            </a:r>
            <a:endParaRPr sz="1500">
              <a:solidFill>
                <a:schemeClr val="dk1"/>
              </a:solidFill>
              <a:latin typeface="Kantumruy Pro"/>
              <a:ea typeface="Kantumruy Pro"/>
              <a:cs typeface="Kantumruy Pro"/>
              <a:sym typeface="Kantumruy Pro"/>
            </a:endParaRPr>
          </a:p>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HR </a:t>
            </a:r>
            <a:r>
              <a:rPr lang="en" sz="1500">
                <a:solidFill>
                  <a:schemeClr val="dk1"/>
                </a:solidFill>
                <a:latin typeface="Kantumruy Pro"/>
                <a:ea typeface="Kantumruy Pro"/>
                <a:cs typeface="Kantumruy Pro"/>
                <a:sym typeface="Kantumruy Pro"/>
              </a:rPr>
              <a:t>ធ្វើការ manage employee</a:t>
            </a:r>
            <a:endParaRPr sz="1500">
              <a:solidFill>
                <a:schemeClr val="dk1"/>
              </a:solidFill>
              <a:latin typeface="Kantumruy Pro"/>
              <a:ea typeface="Kantumruy Pro"/>
              <a:cs typeface="Kantumruy Pro"/>
              <a:sym typeface="Kantumruy Pro"/>
            </a:endParaRPr>
          </a:p>
          <a:p>
            <a:pPr indent="-323850" lvl="0" marL="457200" rtl="0" algn="l">
              <a:lnSpc>
                <a:spcPct val="150000"/>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Administrator ធ្វើការ inherit ចេញពី HR និងបន្ថែមទៅលើ sell product, purchase product, add product, create inventory</a:t>
            </a:r>
            <a:endParaRPr sz="1500">
              <a:solidFill>
                <a:schemeClr val="dk1"/>
              </a:solidFill>
              <a:latin typeface="Kantumruy Pro"/>
              <a:ea typeface="Kantumruy Pro"/>
              <a:cs typeface="Kantumruy Pro"/>
              <a:sym typeface="Kantumruy Pro"/>
            </a:endParaRPr>
          </a:p>
        </p:txBody>
      </p:sp>
      <p:pic>
        <p:nvPicPr>
          <p:cNvPr id="184" name="Google Shape;184;p25" title="use_case_diagram.png"/>
          <p:cNvPicPr preferRelativeResize="0"/>
          <p:nvPr/>
        </p:nvPicPr>
        <p:blipFill>
          <a:blip r:embed="rId3">
            <a:alphaModFix/>
          </a:blip>
          <a:stretch>
            <a:fillRect/>
          </a:stretch>
        </p:blipFill>
        <p:spPr>
          <a:xfrm>
            <a:off x="3561425" y="89625"/>
            <a:ext cx="5330525" cy="4646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0" name="Google Shape;190;p26"/>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លិ ស្រីម៉ា​ ​- Le Sreyma</a:t>
            </a:r>
            <a:endParaRPr b="1" i="1">
              <a:solidFill>
                <a:srgbClr val="741B47"/>
              </a:solidFill>
            </a:endParaRPr>
          </a:p>
        </p:txBody>
      </p:sp>
      <p:sp>
        <p:nvSpPr>
          <p:cNvPr id="191" name="Google Shape;191;p26"/>
          <p:cNvSpPr txBox="1"/>
          <p:nvPr/>
        </p:nvSpPr>
        <p:spPr>
          <a:xfrm>
            <a:off x="692225" y="1205516"/>
            <a:ext cx="8068800" cy="2667300"/>
          </a:xfrm>
          <a:prstGeom prst="rect">
            <a:avLst/>
          </a:prstGeom>
          <a:noFill/>
          <a:ln>
            <a:noFill/>
          </a:ln>
        </p:spPr>
        <p:txBody>
          <a:bodyPr anchorCtr="0" anchor="t" bIns="91425" lIns="91425" spcFirstLastPara="1" rIns="91425" wrap="square" tIns="91425">
            <a:spAutoFit/>
          </a:bodyPr>
          <a:lstStyle/>
          <a:p>
            <a:pPr indent="-323850" lvl="0" marL="457200" rtl="0" algn="l">
              <a:lnSpc>
                <a:spcPct val="162533"/>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តាមរយៈការអភិវឌ្ឍប្រព័ន្ធ Mart Management System នេះ យើងអាចសន្និដ្ឋានបានថា</a:t>
            </a:r>
            <a:endParaRPr sz="1500">
              <a:solidFill>
                <a:schemeClr val="dk1"/>
              </a:solidFill>
              <a:latin typeface="Kantumruy Pro"/>
              <a:ea typeface="Kantumruy Pro"/>
              <a:cs typeface="Kantumruy Pro"/>
              <a:sym typeface="Kantumruy Pro"/>
            </a:endParaRPr>
          </a:p>
          <a:p>
            <a:pPr indent="0" lvl="0" marL="457200" rtl="0" algn="l">
              <a:lnSpc>
                <a:spcPct val="162533"/>
              </a:lnSpc>
              <a:spcBef>
                <a:spcPts val="0"/>
              </a:spcBef>
              <a:spcAft>
                <a:spcPts val="0"/>
              </a:spcAft>
              <a:buNone/>
            </a:pPr>
            <a:r>
              <a:rPr lang="en" sz="1500">
                <a:solidFill>
                  <a:schemeClr val="dk1"/>
                </a:solidFill>
                <a:latin typeface="Kantumruy Pro"/>
                <a:ea typeface="Kantumruy Pro"/>
                <a:cs typeface="Kantumruy Pro"/>
                <a:sym typeface="Kantumruy Pro"/>
              </a:rPr>
              <a:t>ប្រព័ន្ធនេះអាចជួយដល់សហគ្រាស ឬអាជីវកម្មផ្សារ ក្នុងការគ្រប់គ្រងទិន្ន័យជាប្រព័ន្ធ</a:t>
            </a:r>
            <a:endParaRPr sz="1500">
              <a:solidFill>
                <a:schemeClr val="dk1"/>
              </a:solidFill>
              <a:latin typeface="Kantumruy Pro"/>
              <a:ea typeface="Kantumruy Pro"/>
              <a:cs typeface="Kantumruy Pro"/>
              <a:sym typeface="Kantumruy Pro"/>
            </a:endParaRPr>
          </a:p>
          <a:p>
            <a:pPr indent="0" lvl="0" marL="457200" rtl="0" algn="l">
              <a:lnSpc>
                <a:spcPct val="162533"/>
              </a:lnSpc>
              <a:spcBef>
                <a:spcPts val="0"/>
              </a:spcBef>
              <a:spcAft>
                <a:spcPts val="0"/>
              </a:spcAft>
              <a:buNone/>
            </a:pPr>
            <a:r>
              <a:rPr lang="en" sz="1500">
                <a:solidFill>
                  <a:schemeClr val="dk1"/>
                </a:solidFill>
                <a:latin typeface="Kantumruy Pro"/>
                <a:ea typeface="Kantumruy Pro"/>
                <a:cs typeface="Kantumruy Pro"/>
                <a:sym typeface="Kantumruy Pro"/>
              </a:rPr>
              <a:t>និងកាត់បន្ថយកំហុសមនុស្ស។</a:t>
            </a:r>
            <a:endParaRPr sz="1500">
              <a:solidFill>
                <a:schemeClr val="dk1"/>
              </a:solidFill>
              <a:latin typeface="Kantumruy Pro"/>
              <a:ea typeface="Kantumruy Pro"/>
              <a:cs typeface="Kantumruy Pro"/>
              <a:sym typeface="Kantumruy Pro"/>
            </a:endParaRPr>
          </a:p>
          <a:p>
            <a:pPr indent="-323850" lvl="0" marL="457200" rtl="0" algn="l">
              <a:lnSpc>
                <a:spcPct val="162533"/>
              </a:lnSpc>
              <a:spcBef>
                <a:spcPts val="0"/>
              </a:spcBef>
              <a:spcAft>
                <a:spcPts val="0"/>
              </a:spcAft>
              <a:buClr>
                <a:schemeClr val="dk1"/>
              </a:buClr>
              <a:buSzPts val="1500"/>
              <a:buFont typeface="Kantumruy Pro"/>
              <a:buChar char="●"/>
            </a:pPr>
            <a:r>
              <a:rPr lang="en" sz="1500">
                <a:solidFill>
                  <a:schemeClr val="dk1"/>
                </a:solidFill>
                <a:latin typeface="Kantumruy Pro"/>
                <a:ea typeface="Kantumruy Pro"/>
                <a:cs typeface="Kantumruy Pro"/>
                <a:sym typeface="Kantumruy Pro"/>
              </a:rPr>
              <a:t>ប្រព័ន្ធនេះបានបង្ហាញពីការអនុវត្តន៍យ៉ាងជាក់ស្តែងនៃគោលការណ៍ Object-Oriented</a:t>
            </a:r>
            <a:endParaRPr sz="1500">
              <a:solidFill>
                <a:schemeClr val="dk1"/>
              </a:solidFill>
              <a:latin typeface="Kantumruy Pro"/>
              <a:ea typeface="Kantumruy Pro"/>
              <a:cs typeface="Kantumruy Pro"/>
              <a:sym typeface="Kantumruy Pro"/>
            </a:endParaRPr>
          </a:p>
          <a:p>
            <a:pPr indent="0" lvl="0" marL="457200" rtl="0" algn="l">
              <a:lnSpc>
                <a:spcPct val="162533"/>
              </a:lnSpc>
              <a:spcBef>
                <a:spcPts val="0"/>
              </a:spcBef>
              <a:spcAft>
                <a:spcPts val="0"/>
              </a:spcAft>
              <a:buNone/>
            </a:pPr>
            <a:r>
              <a:rPr lang="en" sz="1500">
                <a:solidFill>
                  <a:schemeClr val="dk1"/>
                </a:solidFill>
                <a:latin typeface="Kantumruy Pro"/>
                <a:ea typeface="Kantumruy Pro"/>
                <a:cs typeface="Kantumruy Pro"/>
                <a:sym typeface="Kantumruy Pro"/>
              </a:rPr>
              <a:t>Programming (OOP) ដោយប្រើ UML Class Diagram ដើម្បីបង្ហាញទំនាក់ទំនងរវាង</a:t>
            </a:r>
            <a:endParaRPr sz="1500">
              <a:solidFill>
                <a:schemeClr val="dk1"/>
              </a:solidFill>
              <a:latin typeface="Kantumruy Pro"/>
              <a:ea typeface="Kantumruy Pro"/>
              <a:cs typeface="Kantumruy Pro"/>
              <a:sym typeface="Kantumruy Pro"/>
            </a:endParaRPr>
          </a:p>
          <a:p>
            <a:pPr indent="0" lvl="0" marL="457200" rtl="0" algn="l">
              <a:lnSpc>
                <a:spcPct val="162533"/>
              </a:lnSpc>
              <a:spcBef>
                <a:spcPts val="0"/>
              </a:spcBef>
              <a:spcAft>
                <a:spcPts val="0"/>
              </a:spcAft>
              <a:buNone/>
            </a:pPr>
            <a:r>
              <a:rPr lang="en" sz="1500">
                <a:solidFill>
                  <a:schemeClr val="dk1"/>
                </a:solidFill>
                <a:latin typeface="Kantumruy Pro"/>
                <a:ea typeface="Kantumruy Pro"/>
                <a:cs typeface="Kantumruy Pro"/>
                <a:sym typeface="Kantumruy Pro"/>
              </a:rPr>
              <a:t>classes ផ្សេងៗ និងការទំនាក់ទំនងរវាងតារាងទិន្ន៏យ (Entity Relationship Diagram)</a:t>
            </a:r>
            <a:endParaRPr sz="1500">
              <a:solidFill>
                <a:schemeClr val="dk1"/>
              </a:solidFill>
              <a:latin typeface="Kantumruy Pro"/>
              <a:ea typeface="Kantumruy Pro"/>
              <a:cs typeface="Kantumruy Pro"/>
              <a:sym typeface="Kantumruy Pro"/>
            </a:endParaRPr>
          </a:p>
          <a:p>
            <a:pPr indent="0" lvl="0" marL="457200" rtl="0" algn="l">
              <a:lnSpc>
                <a:spcPct val="162533"/>
              </a:lnSpc>
              <a:spcBef>
                <a:spcPts val="0"/>
              </a:spcBef>
              <a:spcAft>
                <a:spcPts val="0"/>
              </a:spcAft>
              <a:buNone/>
            </a:pPr>
            <a:r>
              <a:rPr lang="en" sz="1500">
                <a:solidFill>
                  <a:schemeClr val="dk1"/>
                </a:solidFill>
                <a:latin typeface="Kantumruy Pro"/>
                <a:ea typeface="Kantumruy Pro"/>
                <a:cs typeface="Kantumruy Pro"/>
                <a:sym typeface="Kantumruy Pro"/>
              </a:rPr>
              <a:t>ដែលធ្វើឲ្យប្រព័ន្ធមានសភាពងាយស្រួលក្នុងការរក្សាទុក កែប្រែ និងពង្រីក។</a:t>
            </a:r>
            <a:endParaRPr sz="1500">
              <a:solidFill>
                <a:schemeClr val="dk1"/>
              </a:solidFill>
              <a:latin typeface="Kantumruy Pro"/>
              <a:ea typeface="Kantumruy Pro"/>
              <a:cs typeface="Kantumruy Pro"/>
              <a:sym typeface="Kantumruy Pro"/>
            </a:endParaRPr>
          </a:p>
        </p:txBody>
      </p:sp>
      <p:pic>
        <p:nvPicPr>
          <p:cNvPr id="192" name="Google Shape;192;p26"/>
          <p:cNvPicPr preferRelativeResize="0"/>
          <p:nvPr/>
        </p:nvPicPr>
        <p:blipFill>
          <a:blip r:embed="rId3">
            <a:alphaModFix amt="5000"/>
          </a:blip>
          <a:stretch>
            <a:fillRect/>
          </a:stretch>
        </p:blipFill>
        <p:spPr>
          <a:xfrm>
            <a:off x="813150" y="606797"/>
            <a:ext cx="7942200" cy="4275628"/>
          </a:xfrm>
          <a:prstGeom prst="rect">
            <a:avLst/>
          </a:prstGeom>
          <a:noFill/>
          <a:ln>
            <a:noFill/>
          </a:ln>
        </p:spPr>
      </p:pic>
      <p:sp>
        <p:nvSpPr>
          <p:cNvPr id="193" name="Google Shape;193;p26"/>
          <p:cNvSpPr txBox="1"/>
          <p:nvPr>
            <p:ph idx="1" type="subTitle"/>
          </p:nvPr>
        </p:nvSpPr>
        <p:spPr>
          <a:xfrm>
            <a:off x="405126" y="273083"/>
            <a:ext cx="5978100" cy="674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2500">
                <a:solidFill>
                  <a:schemeClr val="dk1"/>
                </a:solidFill>
                <a:latin typeface="Kantumruy Pro"/>
                <a:ea typeface="Kantumruy Pro"/>
                <a:cs typeface="Kantumruy Pro"/>
                <a:sym typeface="Kantumruy Pro"/>
              </a:rPr>
              <a:t>4</a:t>
            </a:r>
            <a:r>
              <a:rPr b="1" lang="en" sz="2500">
                <a:solidFill>
                  <a:schemeClr val="dk1"/>
                </a:solidFill>
                <a:latin typeface="Kantumruy Pro"/>
                <a:ea typeface="Kantumruy Pro"/>
                <a:cs typeface="Kantumruy Pro"/>
                <a:sym typeface="Kantumruy Pro"/>
              </a:rPr>
              <a:t>. </a:t>
            </a:r>
            <a:r>
              <a:rPr b="1" lang="en" sz="2500">
                <a:solidFill>
                  <a:schemeClr val="dk1"/>
                </a:solidFill>
                <a:latin typeface="Kantumruy Pro"/>
                <a:ea typeface="Kantumruy Pro"/>
                <a:cs typeface="Kantumruy Pro"/>
                <a:sym typeface="Kantumruy Pro"/>
              </a:rPr>
              <a:t>សន្និដ្ឋាន</a:t>
            </a:r>
            <a:endParaRPr b="1" sz="2500">
              <a:solidFill>
                <a:schemeClr val="dk1"/>
              </a:solidFill>
              <a:latin typeface="Kantumruy Pro"/>
              <a:ea typeface="Kantumruy Pro"/>
              <a:cs typeface="Kantumruy Pro"/>
              <a:sym typeface="Kantumruy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27"/>
          <p:cNvSpPr txBox="1"/>
          <p:nvPr/>
        </p:nvSpPr>
        <p:spPr>
          <a:xfrm>
            <a:off x="0" y="4736350"/>
            <a:ext cx="28845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i="1" lang="en">
                <a:solidFill>
                  <a:srgbClr val="741B47"/>
                </a:solidFill>
                <a:latin typeface="Kantumruy Pro"/>
                <a:ea typeface="Kantumruy Pro"/>
                <a:cs typeface="Kantumruy Pro"/>
                <a:sym typeface="Kantumruy Pro"/>
              </a:rPr>
              <a:t>ស៊ូ ចាន់រ៉ូជែម​ - Sou Chanrojame</a:t>
            </a:r>
            <a:endParaRPr b="1" i="1">
              <a:solidFill>
                <a:srgbClr val="741B47"/>
              </a:solidFill>
            </a:endParaRPr>
          </a:p>
        </p:txBody>
      </p:sp>
      <p:sp>
        <p:nvSpPr>
          <p:cNvPr id="200" name="Google Shape;200;p27"/>
          <p:cNvSpPr txBox="1"/>
          <p:nvPr>
            <p:ph idx="1" type="subTitle"/>
          </p:nvPr>
        </p:nvSpPr>
        <p:spPr>
          <a:xfrm>
            <a:off x="405126" y="161752"/>
            <a:ext cx="5978100" cy="674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2500">
                <a:solidFill>
                  <a:schemeClr val="dk1"/>
                </a:solidFill>
                <a:latin typeface="Kantumruy Pro"/>
                <a:ea typeface="Kantumruy Pro"/>
                <a:cs typeface="Kantumruy Pro"/>
                <a:sym typeface="Kantumruy Pro"/>
              </a:rPr>
              <a:t>5</a:t>
            </a:r>
            <a:r>
              <a:rPr b="1" lang="en" sz="2500">
                <a:solidFill>
                  <a:schemeClr val="dk1"/>
                </a:solidFill>
                <a:latin typeface="Kantumruy Pro"/>
                <a:ea typeface="Kantumruy Pro"/>
                <a:cs typeface="Kantumruy Pro"/>
                <a:sym typeface="Kantumruy Pro"/>
              </a:rPr>
              <a:t>. Demo</a:t>
            </a:r>
            <a:endParaRPr b="1" sz="2500">
              <a:solidFill>
                <a:schemeClr val="dk1"/>
              </a:solidFill>
              <a:latin typeface="Kantumruy Pro"/>
              <a:ea typeface="Kantumruy Pro"/>
              <a:cs typeface="Kantumruy Pro"/>
              <a:sym typeface="Kantumruy Pro"/>
            </a:endParaRPr>
          </a:p>
        </p:txBody>
      </p:sp>
      <p:pic>
        <p:nvPicPr>
          <p:cNvPr descr="Group of young people holding placard saying thank you. Thanking doctors and police. Thankful men and pleased women. Gratitude poster. Appreciation to emergency workers. Vector concept (Provided by Getty Images)" id="201" name="Google Shape;201;p27"/>
          <p:cNvPicPr preferRelativeResize="0"/>
          <p:nvPr/>
        </p:nvPicPr>
        <p:blipFill>
          <a:blip r:embed="rId3">
            <a:alphaModFix/>
          </a:blip>
          <a:stretch>
            <a:fillRect/>
          </a:stretch>
        </p:blipFill>
        <p:spPr>
          <a:xfrm>
            <a:off x="152400" y="692875"/>
            <a:ext cx="8687242" cy="39703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