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Kantumruy Pr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font" Target="fonts/KantumruyPro-bold.fntdata"/><Relationship Id="rId10" Type="http://schemas.openxmlformats.org/officeDocument/2006/relationships/slide" Target="slides/slide5.xml"/><Relationship Id="rId21" Type="http://schemas.openxmlformats.org/officeDocument/2006/relationships/font" Target="fonts/KantumruyPro-regular.fntdata"/><Relationship Id="rId13" Type="http://schemas.openxmlformats.org/officeDocument/2006/relationships/slide" Target="slides/slide8.xml"/><Relationship Id="rId24" Type="http://schemas.openxmlformats.org/officeDocument/2006/relationships/font" Target="fonts/KantumruyPro-boldItalic.fntdata"/><Relationship Id="rId12" Type="http://schemas.openxmlformats.org/officeDocument/2006/relationships/slide" Target="slides/slide7.xml"/><Relationship Id="rId23" Type="http://schemas.openxmlformats.org/officeDocument/2006/relationships/font" Target="fonts/KantumruyPro-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8725c6bd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8725c6bd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fbe8f1f02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fbe8f1f02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9fbe8f1f02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9fbe8f1f0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9fbe8f1f02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9fbe8f1f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a082f25ca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a082f25ca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fbe8f1f0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fbe8f1f0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a082f25cac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a082f25cac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a082f25cac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a082f25cac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a082f25cac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a082f25cac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082f25cac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a082f25cac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a082f25cac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a082f25cac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a082f25cac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a082f25cac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a082f25cac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a082f25cac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9887e9b1fb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9887e9b1fb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9887e9b1f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9887e9b1f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8.png"/><Relationship Id="rId7"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idx="1" type="subTitle"/>
          </p:nvPr>
        </p:nvSpPr>
        <p:spPr>
          <a:xfrm>
            <a:off x="2203775" y="292000"/>
            <a:ext cx="5899800" cy="674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3800">
                <a:solidFill>
                  <a:schemeClr val="dk1"/>
                </a:solidFill>
                <a:latin typeface="Kantumruy Pro"/>
                <a:ea typeface="Kantumruy Pro"/>
                <a:cs typeface="Kantumruy Pro"/>
                <a:sym typeface="Kantumruy Pro"/>
              </a:rPr>
              <a:t>សាកលវិទ្យាល័យភូមិន្ទភ្នំពេញ</a:t>
            </a:r>
            <a:endParaRPr b="1" sz="3800">
              <a:solidFill>
                <a:schemeClr val="dk1"/>
              </a:solidFill>
              <a:latin typeface="Kantumruy Pro"/>
              <a:ea typeface="Kantumruy Pro"/>
              <a:cs typeface="Kantumruy Pro"/>
              <a:sym typeface="Kantumruy Pro"/>
            </a:endParaRPr>
          </a:p>
        </p:txBody>
      </p:sp>
      <p:pic>
        <p:nvPicPr>
          <p:cNvPr id="55" name="Google Shape;55;p13"/>
          <p:cNvPicPr preferRelativeResize="0"/>
          <p:nvPr/>
        </p:nvPicPr>
        <p:blipFill>
          <a:blip r:embed="rId3">
            <a:alphaModFix amt="5000"/>
          </a:blip>
          <a:stretch>
            <a:fillRect/>
          </a:stretch>
        </p:blipFill>
        <p:spPr>
          <a:xfrm>
            <a:off x="744525" y="640075"/>
            <a:ext cx="7635551" cy="4110550"/>
          </a:xfrm>
          <a:prstGeom prst="rect">
            <a:avLst/>
          </a:prstGeom>
          <a:noFill/>
          <a:ln>
            <a:noFill/>
          </a:ln>
        </p:spPr>
      </p:pic>
      <p:pic>
        <p:nvPicPr>
          <p:cNvPr id="56" name="Google Shape;56;p13"/>
          <p:cNvPicPr preferRelativeResize="0"/>
          <p:nvPr/>
        </p:nvPicPr>
        <p:blipFill>
          <a:blip r:embed="rId4">
            <a:alphaModFix/>
          </a:blip>
          <a:stretch>
            <a:fillRect/>
          </a:stretch>
        </p:blipFill>
        <p:spPr>
          <a:xfrm>
            <a:off x="405113" y="143456"/>
            <a:ext cx="1075301" cy="1097238"/>
          </a:xfrm>
          <a:prstGeom prst="rect">
            <a:avLst/>
          </a:prstGeom>
          <a:noFill/>
          <a:ln>
            <a:noFill/>
          </a:ln>
        </p:spPr>
      </p:pic>
      <p:sp>
        <p:nvSpPr>
          <p:cNvPr id="57" name="Google Shape;57;p13"/>
          <p:cNvSpPr txBox="1"/>
          <p:nvPr/>
        </p:nvSpPr>
        <p:spPr>
          <a:xfrm>
            <a:off x="2383575" y="1433096"/>
            <a:ext cx="5596500" cy="20625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ប្រព័ន្ធគ្រប់គ្រងហាងលក់ទំនិញ</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Mart Management System</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Clr>
                <a:schemeClr val="lt1"/>
              </a:buClr>
              <a:buSzPts val="3400"/>
              <a:buFont typeface="Arial"/>
              <a:buNone/>
            </a:pPr>
            <a:r>
              <a:t/>
            </a:r>
            <a:endParaRPr sz="2600">
              <a:solidFill>
                <a:schemeClr val="dk1"/>
              </a:solidFill>
            </a:endParaRPr>
          </a:p>
          <a:p>
            <a:pPr indent="0" lvl="0" marL="0" rtl="0" algn="l">
              <a:spcBef>
                <a:spcPts val="0"/>
              </a:spcBef>
              <a:spcAft>
                <a:spcPts val="0"/>
              </a:spcAft>
              <a:buNone/>
            </a:pPr>
            <a:r>
              <a:t/>
            </a:r>
            <a:endParaRPr sz="1800">
              <a:solidFill>
                <a:schemeClr val="dk1"/>
              </a:solidFill>
            </a:endParaRPr>
          </a:p>
        </p:txBody>
      </p:sp>
      <p:pic>
        <p:nvPicPr>
          <p:cNvPr id="58" name="Google Shape;58;p13"/>
          <p:cNvPicPr preferRelativeResize="0"/>
          <p:nvPr/>
        </p:nvPicPr>
        <p:blipFill>
          <a:blip r:embed="rId5">
            <a:alphaModFix/>
          </a:blip>
          <a:stretch>
            <a:fillRect/>
          </a:stretch>
        </p:blipFill>
        <p:spPr>
          <a:xfrm>
            <a:off x="3442625" y="2651984"/>
            <a:ext cx="482925" cy="482925"/>
          </a:xfrm>
          <a:prstGeom prst="rect">
            <a:avLst/>
          </a:prstGeom>
          <a:noFill/>
          <a:ln>
            <a:noFill/>
          </a:ln>
        </p:spPr>
      </p:pic>
      <p:pic>
        <p:nvPicPr>
          <p:cNvPr id="59" name="Google Shape;59;p13"/>
          <p:cNvPicPr preferRelativeResize="0"/>
          <p:nvPr/>
        </p:nvPicPr>
        <p:blipFill>
          <a:blip r:embed="rId6">
            <a:alphaModFix/>
          </a:blip>
          <a:stretch>
            <a:fillRect/>
          </a:stretch>
        </p:blipFill>
        <p:spPr>
          <a:xfrm>
            <a:off x="4360311" y="2751656"/>
            <a:ext cx="405900" cy="405900"/>
          </a:xfrm>
          <a:prstGeom prst="rect">
            <a:avLst/>
          </a:prstGeom>
          <a:noFill/>
          <a:ln>
            <a:noFill/>
          </a:ln>
        </p:spPr>
      </p:pic>
      <p:pic>
        <p:nvPicPr>
          <p:cNvPr id="60" name="Google Shape;60;p13"/>
          <p:cNvPicPr preferRelativeResize="0"/>
          <p:nvPr/>
        </p:nvPicPr>
        <p:blipFill>
          <a:blip r:embed="rId7">
            <a:alphaModFix/>
          </a:blip>
          <a:stretch>
            <a:fillRect/>
          </a:stretch>
        </p:blipFill>
        <p:spPr>
          <a:xfrm>
            <a:off x="5209720" y="2729615"/>
            <a:ext cx="445850" cy="445850"/>
          </a:xfrm>
          <a:prstGeom prst="rect">
            <a:avLst/>
          </a:prstGeom>
          <a:noFill/>
          <a:ln>
            <a:noFill/>
          </a:ln>
        </p:spPr>
      </p:pic>
      <p:pic>
        <p:nvPicPr>
          <p:cNvPr id="61" name="Google Shape;61;p13"/>
          <p:cNvPicPr preferRelativeResize="0"/>
          <p:nvPr/>
        </p:nvPicPr>
        <p:blipFill>
          <a:blip r:embed="rId8">
            <a:alphaModFix/>
          </a:blip>
          <a:stretch>
            <a:fillRect/>
          </a:stretch>
        </p:blipFill>
        <p:spPr>
          <a:xfrm>
            <a:off x="6123975" y="2756493"/>
            <a:ext cx="445850" cy="445850"/>
          </a:xfrm>
          <a:prstGeom prst="rect">
            <a:avLst/>
          </a:prstGeom>
          <a:noFill/>
          <a:ln>
            <a:noFill/>
          </a:ln>
        </p:spPr>
      </p:pic>
      <p:sp>
        <p:nvSpPr>
          <p:cNvPr id="62" name="Google Shape;62;p13"/>
          <p:cNvSpPr txBox="1"/>
          <p:nvPr/>
        </p:nvSpPr>
        <p:spPr>
          <a:xfrm>
            <a:off x="3324789"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ផលិតផល</a:t>
            </a:r>
            <a:endParaRPr sz="1300">
              <a:solidFill>
                <a:schemeClr val="dk1"/>
              </a:solidFill>
              <a:latin typeface="Kantumruy Pro"/>
              <a:ea typeface="Kantumruy Pro"/>
              <a:cs typeface="Kantumruy Pro"/>
              <a:sym typeface="Kantumruy Pro"/>
            </a:endParaRPr>
          </a:p>
        </p:txBody>
      </p:sp>
      <p:sp>
        <p:nvSpPr>
          <p:cNvPr id="63" name="Google Shape;63;p13"/>
          <p:cNvSpPr txBox="1"/>
          <p:nvPr/>
        </p:nvSpPr>
        <p:spPr>
          <a:xfrm>
            <a:off x="4373374"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លក់</a:t>
            </a:r>
            <a:endParaRPr sz="1300">
              <a:solidFill>
                <a:schemeClr val="dk1"/>
              </a:solidFill>
              <a:latin typeface="Kantumruy Pro"/>
              <a:ea typeface="Kantumruy Pro"/>
              <a:cs typeface="Kantumruy Pro"/>
              <a:sym typeface="Kantumruy Pro"/>
            </a:endParaRPr>
          </a:p>
        </p:txBody>
      </p:sp>
      <p:sp>
        <p:nvSpPr>
          <p:cNvPr id="64" name="Google Shape;64;p13"/>
          <p:cNvSpPr txBox="1"/>
          <p:nvPr/>
        </p:nvSpPr>
        <p:spPr>
          <a:xfrm>
            <a:off x="5221047"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ស្តុក</a:t>
            </a:r>
            <a:endParaRPr sz="1300">
              <a:solidFill>
                <a:schemeClr val="dk1"/>
              </a:solidFill>
              <a:latin typeface="Kantumruy Pro"/>
              <a:ea typeface="Kantumruy Pro"/>
              <a:cs typeface="Kantumruy Pro"/>
              <a:sym typeface="Kantumruy Pro"/>
            </a:endParaRPr>
          </a:p>
        </p:txBody>
      </p:sp>
      <p:sp>
        <p:nvSpPr>
          <p:cNvPr id="65" name="Google Shape;65;p13"/>
          <p:cNvSpPr txBox="1"/>
          <p:nvPr/>
        </p:nvSpPr>
        <p:spPr>
          <a:xfrm>
            <a:off x="5976770"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អ្នកប្រើប្រាស់</a:t>
            </a:r>
            <a:endParaRPr sz="1300">
              <a:solidFill>
                <a:schemeClr val="dk1"/>
              </a:solidFill>
              <a:latin typeface="Kantumruy Pro"/>
              <a:ea typeface="Kantumruy Pro"/>
              <a:cs typeface="Kantumruy Pro"/>
              <a:sym typeface="Kantumruy Pro"/>
            </a:endParaRPr>
          </a:p>
        </p:txBody>
      </p:sp>
      <p:sp>
        <p:nvSpPr>
          <p:cNvPr id="66" name="Google Shape;66;p13"/>
          <p:cNvSpPr txBox="1"/>
          <p:nvPr/>
        </p:nvSpPr>
        <p:spPr>
          <a:xfrm>
            <a:off x="405125" y="3743578"/>
            <a:ext cx="5033400" cy="109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មុខវិជ្ជា៖ OOAD and Programming</a:t>
            </a:r>
            <a:endParaRPr sz="1800">
              <a:solidFill>
                <a:schemeClr val="dk1"/>
              </a:solidFill>
              <a:latin typeface="Kantumruy Pro"/>
              <a:ea typeface="Kantumruy Pro"/>
              <a:cs typeface="Kantumruy Pro"/>
              <a:sym typeface="Kantumruy Pro"/>
            </a:endParaRPr>
          </a:p>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បង្រៀនដោយ៖ Dan Vournpheng</a:t>
            </a:r>
            <a:endParaRPr sz="1800">
              <a:solidFill>
                <a:schemeClr val="dk1"/>
              </a:solidFill>
              <a:latin typeface="Kantumruy Pro"/>
              <a:ea typeface="Kantumruy Pro"/>
              <a:cs typeface="Kantumruy Pro"/>
              <a:sym typeface="Kantumruy Pro"/>
            </a:endParaRPr>
          </a:p>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ថ្នាក់៖ M1    ​​  ក្រុមទី៖ 4</a:t>
            </a:r>
            <a:endParaRPr sz="1800">
              <a:solidFill>
                <a:schemeClr val="dk1"/>
              </a:solidFill>
              <a:latin typeface="Kantumruy Pro"/>
              <a:ea typeface="Kantumruy Pro"/>
              <a:cs typeface="Kantumruy Pro"/>
              <a:sym typeface="Kantumruy Pro"/>
            </a:endParaRPr>
          </a:p>
        </p:txBody>
      </p:sp>
      <p:sp>
        <p:nvSpPr>
          <p:cNvPr id="67" name="Google Shape;67;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4"/>
          <p:cNvSpPr txBox="1"/>
          <p:nvPr>
            <p:ph idx="1" type="subTitle"/>
          </p:nvPr>
        </p:nvSpPr>
        <p:spPr>
          <a:xfrm>
            <a:off x="405130" y="293700"/>
            <a:ext cx="2545500" cy="67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chemeClr val="dk1"/>
                </a:solidFill>
                <a:latin typeface="Kantumruy Pro"/>
                <a:ea typeface="Kantumruy Pro"/>
                <a:cs typeface="Kantumruy Pro"/>
                <a:sym typeface="Kantumruy Pro"/>
              </a:rPr>
              <a:t>សមាជិកក្រុម</a:t>
            </a:r>
            <a:endParaRPr b="1">
              <a:solidFill>
                <a:schemeClr val="dk1"/>
              </a:solidFill>
              <a:latin typeface="Kantumruy Pro"/>
              <a:ea typeface="Kantumruy Pro"/>
              <a:cs typeface="Kantumruy Pro"/>
              <a:sym typeface="Kantumruy Pro"/>
            </a:endParaRPr>
          </a:p>
        </p:txBody>
      </p:sp>
      <p:pic>
        <p:nvPicPr>
          <p:cNvPr id="73" name="Google Shape;73;p14"/>
          <p:cNvPicPr preferRelativeResize="0"/>
          <p:nvPr/>
        </p:nvPicPr>
        <p:blipFill>
          <a:blip r:embed="rId3">
            <a:alphaModFix amt="5000"/>
          </a:blip>
          <a:stretch>
            <a:fillRect/>
          </a:stretch>
        </p:blipFill>
        <p:spPr>
          <a:xfrm>
            <a:off x="956500" y="480775"/>
            <a:ext cx="7498549" cy="4036800"/>
          </a:xfrm>
          <a:prstGeom prst="rect">
            <a:avLst/>
          </a:prstGeom>
          <a:noFill/>
          <a:ln>
            <a:noFill/>
          </a:ln>
        </p:spPr>
      </p:pic>
      <p:sp>
        <p:nvSpPr>
          <p:cNvPr id="74" name="Google Shape;74;p14"/>
          <p:cNvSpPr txBox="1"/>
          <p:nvPr/>
        </p:nvSpPr>
        <p:spPr>
          <a:xfrm>
            <a:off x="1079628" y="1348629"/>
            <a:ext cx="4875900" cy="2555100"/>
          </a:xfrm>
          <a:prstGeom prst="rect">
            <a:avLst/>
          </a:prstGeom>
          <a:noFill/>
          <a:ln>
            <a:noFill/>
          </a:ln>
        </p:spPr>
        <p:txBody>
          <a:bodyPr anchorCtr="0" anchor="t" bIns="91425" lIns="91425" spcFirstLastPara="1" rIns="91425" wrap="square" tIns="91425">
            <a:spAutoFit/>
          </a:bodyPr>
          <a:lstStyle/>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ស៊ូ ចាន់រ៉ូជែម​ - Sou Chanrojame</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ធិន​ សុីវធាន - Then Sivthean</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អន ភក្តី - Orn Pheakdey</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លិ ស្រីម៉ា​ ​- Le Sreyma</a:t>
            </a:r>
            <a:endParaRPr sz="2200">
              <a:solidFill>
                <a:schemeClr val="dk1"/>
              </a:solidFill>
              <a:latin typeface="Kantumruy Pro"/>
              <a:ea typeface="Kantumruy Pro"/>
              <a:cs typeface="Kantumruy Pro"/>
              <a:sym typeface="Kantumruy Pro"/>
            </a:endParaRPr>
          </a:p>
        </p:txBody>
      </p:sp>
      <p:pic>
        <p:nvPicPr>
          <p:cNvPr id="75" name="Google Shape;75;p14"/>
          <p:cNvPicPr preferRelativeResize="0"/>
          <p:nvPr/>
        </p:nvPicPr>
        <p:blipFill>
          <a:blip r:embed="rId4">
            <a:alphaModFix/>
          </a:blip>
          <a:stretch>
            <a:fillRect/>
          </a:stretch>
        </p:blipFill>
        <p:spPr>
          <a:xfrm>
            <a:off x="4808325" y="911675"/>
            <a:ext cx="3429000" cy="3429000"/>
          </a:xfrm>
          <a:prstGeom prst="rect">
            <a:avLst/>
          </a:prstGeom>
          <a:noFill/>
          <a:ln>
            <a:noFill/>
          </a:ln>
        </p:spPr>
      </p:pic>
      <p:sp>
        <p:nvSpPr>
          <p:cNvPr id="76" name="Google Shape;76;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5"/>
          <p:cNvSpPr txBox="1"/>
          <p:nvPr>
            <p:ph idx="1" type="subTitle"/>
          </p:nvPr>
        </p:nvSpPr>
        <p:spPr>
          <a:xfrm>
            <a:off x="405130" y="293700"/>
            <a:ext cx="2545500" cy="67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chemeClr val="dk1"/>
                </a:solidFill>
                <a:latin typeface="Kantumruy Pro"/>
                <a:ea typeface="Kantumruy Pro"/>
                <a:cs typeface="Kantumruy Pro"/>
                <a:sym typeface="Kantumruy Pro"/>
              </a:rPr>
              <a:t>មាតិកា</a:t>
            </a:r>
            <a:endParaRPr b="1">
              <a:solidFill>
                <a:schemeClr val="dk1"/>
              </a:solidFill>
              <a:latin typeface="Kantumruy Pro"/>
              <a:ea typeface="Kantumruy Pro"/>
              <a:cs typeface="Kantumruy Pro"/>
              <a:sym typeface="Kantumruy Pro"/>
            </a:endParaRPr>
          </a:p>
        </p:txBody>
      </p:sp>
      <p:pic>
        <p:nvPicPr>
          <p:cNvPr id="82" name="Google Shape;82;p15"/>
          <p:cNvPicPr preferRelativeResize="0"/>
          <p:nvPr/>
        </p:nvPicPr>
        <p:blipFill>
          <a:blip r:embed="rId3">
            <a:alphaModFix amt="5000"/>
          </a:blip>
          <a:stretch>
            <a:fillRect/>
          </a:stretch>
        </p:blipFill>
        <p:spPr>
          <a:xfrm>
            <a:off x="276150" y="495300"/>
            <a:ext cx="8104925" cy="4898575"/>
          </a:xfrm>
          <a:prstGeom prst="rect">
            <a:avLst/>
          </a:prstGeom>
          <a:noFill/>
          <a:ln>
            <a:noFill/>
          </a:ln>
        </p:spPr>
      </p:pic>
      <p:sp>
        <p:nvSpPr>
          <p:cNvPr id="83" name="Google Shape;83;p15"/>
          <p:cNvSpPr txBox="1"/>
          <p:nvPr/>
        </p:nvSpPr>
        <p:spPr>
          <a:xfrm>
            <a:off x="1079625" y="1062875"/>
            <a:ext cx="6339000" cy="2555100"/>
          </a:xfrm>
          <a:prstGeom prst="rect">
            <a:avLst/>
          </a:prstGeom>
          <a:noFill/>
          <a:ln>
            <a:noFill/>
          </a:ln>
        </p:spPr>
        <p:txBody>
          <a:bodyPr anchorCtr="0" anchor="t" bIns="91425" lIns="91425" spcFirstLastPara="1" rIns="91425" wrap="square" tIns="91425">
            <a:spAutoFit/>
          </a:bodyPr>
          <a:lstStyle/>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គោលបំណងនៃប្រព័ន្ធ</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Form</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លក្ខណៈ OOP</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សន្និដ្ឋាន</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Demo</a:t>
            </a:r>
            <a:endParaRPr sz="2200">
              <a:solidFill>
                <a:schemeClr val="dk1"/>
              </a:solidFill>
              <a:latin typeface="Kantumruy Pro"/>
              <a:ea typeface="Kantumruy Pro"/>
              <a:cs typeface="Kantumruy Pro"/>
              <a:sym typeface="Kantumruy Pro"/>
            </a:endParaRPr>
          </a:p>
        </p:txBody>
      </p:sp>
      <p:sp>
        <p:nvSpPr>
          <p:cNvPr id="84" name="Google Shape;84;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6"/>
          <p:cNvSpPr txBox="1"/>
          <p:nvPr>
            <p:ph idx="1" type="subTitle"/>
          </p:nvPr>
        </p:nvSpPr>
        <p:spPr>
          <a:xfrm>
            <a:off x="405123" y="293700"/>
            <a:ext cx="3475500" cy="674100"/>
          </a:xfrm>
          <a:prstGeom prst="rect">
            <a:avLst/>
          </a:prstGeom>
        </p:spPr>
        <p:txBody>
          <a:bodyPr anchorCtr="0" anchor="t" bIns="91425" lIns="91425" spcFirstLastPara="1" rIns="91425" wrap="square" tIns="91425">
            <a:noAutofit/>
          </a:bodyPr>
          <a:lstStyle/>
          <a:p>
            <a:pPr indent="-387350" lvl="0" marL="457200" rtl="0" algn="l">
              <a:lnSpc>
                <a:spcPct val="150000"/>
              </a:lnSpc>
              <a:spcBef>
                <a:spcPts val="0"/>
              </a:spcBef>
              <a:spcAft>
                <a:spcPts val="0"/>
              </a:spcAft>
              <a:buClr>
                <a:schemeClr val="dk1"/>
              </a:buClr>
              <a:buSzPts val="2500"/>
              <a:buFont typeface="Kantumruy Pro"/>
              <a:buAutoNum type="arabicPeriod"/>
            </a:pPr>
            <a:r>
              <a:rPr b="1" lang="en" sz="2500">
                <a:solidFill>
                  <a:schemeClr val="dk1"/>
                </a:solidFill>
                <a:latin typeface="Kantumruy Pro"/>
                <a:ea typeface="Kantumruy Pro"/>
                <a:cs typeface="Kantumruy Pro"/>
                <a:sym typeface="Kantumruy Pro"/>
              </a:rPr>
              <a:t>គោលបំណងនៃប្រព័ន្ធ</a:t>
            </a:r>
            <a:endParaRPr b="1" sz="3100">
              <a:solidFill>
                <a:schemeClr val="dk1"/>
              </a:solidFill>
              <a:latin typeface="Kantumruy Pro"/>
              <a:ea typeface="Kantumruy Pro"/>
              <a:cs typeface="Kantumruy Pro"/>
              <a:sym typeface="Kantumruy Pro"/>
            </a:endParaRPr>
          </a:p>
        </p:txBody>
      </p:sp>
      <p:pic>
        <p:nvPicPr>
          <p:cNvPr id="90" name="Google Shape;90;p16"/>
          <p:cNvPicPr preferRelativeResize="0"/>
          <p:nvPr/>
        </p:nvPicPr>
        <p:blipFill>
          <a:blip r:embed="rId3">
            <a:alphaModFix amt="5000"/>
          </a:blip>
          <a:stretch>
            <a:fillRect/>
          </a:stretch>
        </p:blipFill>
        <p:spPr>
          <a:xfrm>
            <a:off x="813150" y="606797"/>
            <a:ext cx="7942200" cy="4275628"/>
          </a:xfrm>
          <a:prstGeom prst="rect">
            <a:avLst/>
          </a:prstGeom>
          <a:noFill/>
          <a:ln>
            <a:noFill/>
          </a:ln>
        </p:spPr>
      </p:pic>
      <p:sp>
        <p:nvSpPr>
          <p:cNvPr id="91" name="Google Shape;91;p16"/>
          <p:cNvSpPr txBox="1"/>
          <p:nvPr/>
        </p:nvSpPr>
        <p:spPr>
          <a:xfrm>
            <a:off x="562550" y="967800"/>
            <a:ext cx="8581500" cy="1681800"/>
          </a:xfrm>
          <a:prstGeom prst="rect">
            <a:avLst/>
          </a:prstGeom>
          <a:noFill/>
          <a:ln>
            <a:noFill/>
          </a:ln>
        </p:spPr>
        <p:txBody>
          <a:bodyPr anchorCtr="0" anchor="t" bIns="91425" lIns="91425" spcFirstLastPara="1" rIns="91425" wrap="square" tIns="91425">
            <a:spAutoFit/>
          </a:bodyPr>
          <a:lstStyle/>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គោលបំណងនៃប្រព័ន្ធ Mart Management System គឺដើម្បីជួយឲ្យម្ចាស់សហគ្រាស</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ឬអ្នកគ្រប់គ្រងផ្សារ អាចគ្រប់គ្រងទិន្</a:t>
            </a:r>
            <a:r>
              <a:rPr lang="en" sz="1600">
                <a:solidFill>
                  <a:schemeClr val="dk1"/>
                </a:solidFill>
                <a:latin typeface="Kantumruy Pro"/>
                <a:ea typeface="Kantumruy Pro"/>
                <a:cs typeface="Kantumruy Pro"/>
                <a:sym typeface="Kantumruy Pro"/>
              </a:rPr>
              <a:t>ន័</a:t>
            </a:r>
            <a:r>
              <a:rPr lang="en" sz="1600">
                <a:solidFill>
                  <a:schemeClr val="dk1"/>
                </a:solidFill>
                <a:latin typeface="Kantumruy Pro"/>
                <a:ea typeface="Kantumruy Pro"/>
                <a:cs typeface="Kantumruy Pro"/>
                <a:sym typeface="Kantumruy Pro"/>
              </a:rPr>
              <a:t>យនានាដែលទាក់ទងនឹងអាជីវកម្មយ៉ាងមានប្រសិទ្ធភាព</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និងប្រើប្រាស់បានងាយស្រួល រួមមាន</a:t>
            </a:r>
            <a:r>
              <a:rPr lang="en" sz="1800">
                <a:solidFill>
                  <a:schemeClr val="dk1"/>
                </a:solidFill>
                <a:latin typeface="Kantumruy Pro"/>
                <a:ea typeface="Kantumruy Pro"/>
                <a:cs typeface="Kantumruy Pro"/>
                <a:sym typeface="Kantumruy Pro"/>
              </a:rPr>
              <a:t>៖</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rgbClr val="374151"/>
              </a:buClr>
              <a:buSzPts val="1100"/>
              <a:buFont typeface="Arial"/>
              <a:buNone/>
            </a:pPr>
            <a:r>
              <a:t/>
            </a:r>
            <a:endParaRPr sz="1600">
              <a:solidFill>
                <a:schemeClr val="dk1"/>
              </a:solidFill>
              <a:latin typeface="Kantumruy Pro"/>
              <a:ea typeface="Kantumruy Pro"/>
              <a:cs typeface="Kantumruy Pro"/>
              <a:sym typeface="Kantumruy Pro"/>
            </a:endParaRPr>
          </a:p>
        </p:txBody>
      </p:sp>
      <p:sp>
        <p:nvSpPr>
          <p:cNvPr id="92" name="Google Shape;92;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93" name="Google Shape;93;p16"/>
          <p:cNvSpPr txBox="1"/>
          <p:nvPr/>
        </p:nvSpPr>
        <p:spPr>
          <a:xfrm>
            <a:off x="653250" y="2432200"/>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94" name="Google Shape;94;p16"/>
          <p:cNvSpPr txBox="1"/>
          <p:nvPr/>
        </p:nvSpPr>
        <p:spPr>
          <a:xfrm>
            <a:off x="1712750" y="2450800"/>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ការគ្រប់គ្រងព័ត៌មានអំពី ផលិតផល (Products) ដូចជា ឈ្មោះ តម្លៃ ឯកតា និងស្ថានភាពលក់។</a:t>
            </a:r>
            <a:endParaRPr sz="1500">
              <a:solidFill>
                <a:schemeClr val="dk1"/>
              </a:solidFill>
              <a:latin typeface="Kantumruy Pro"/>
              <a:ea typeface="Kantumruy Pro"/>
              <a:cs typeface="Kantumruy Pro"/>
              <a:sym typeface="Kantumruy Pro"/>
            </a:endParaRPr>
          </a:p>
        </p:txBody>
      </p:sp>
      <p:sp>
        <p:nvSpPr>
          <p:cNvPr id="95" name="Google Shape;95;p1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pic>
        <p:nvPicPr>
          <p:cNvPr id="96" name="Google Shape;96;p16"/>
          <p:cNvPicPr preferRelativeResize="0"/>
          <p:nvPr/>
        </p:nvPicPr>
        <p:blipFill>
          <a:blip r:embed="rId4">
            <a:alphaModFix/>
          </a:blip>
          <a:stretch>
            <a:fillRect/>
          </a:stretch>
        </p:blipFill>
        <p:spPr>
          <a:xfrm>
            <a:off x="807522" y="2480058"/>
            <a:ext cx="674100" cy="674100"/>
          </a:xfrm>
          <a:prstGeom prst="rect">
            <a:avLst/>
          </a:prstGeom>
          <a:noFill/>
          <a:ln>
            <a:noFill/>
          </a:ln>
        </p:spPr>
      </p:pic>
      <p:sp>
        <p:nvSpPr>
          <p:cNvPr id="97" name="Google Shape;97;p16"/>
          <p:cNvSpPr txBox="1"/>
          <p:nvPr/>
        </p:nvSpPr>
        <p:spPr>
          <a:xfrm>
            <a:off x="670727" y="346291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98" name="Google Shape;98;p16"/>
          <p:cNvSpPr txBox="1"/>
          <p:nvPr/>
        </p:nvSpPr>
        <p:spPr>
          <a:xfrm>
            <a:off x="1730227" y="348151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អតិថិជន (Customers) និង អ្នកផ្គត់ផ្គង់ (Suppliers)</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ដើម្បីរក្សាទំនាក់ទំនងក្នុងការទិញ និងលក់។</a:t>
            </a:r>
            <a:endParaRPr sz="1500">
              <a:solidFill>
                <a:schemeClr val="dk1"/>
              </a:solidFill>
              <a:latin typeface="Kantumruy Pro"/>
              <a:ea typeface="Kantumruy Pro"/>
              <a:cs typeface="Kantumruy Pro"/>
              <a:sym typeface="Kantumruy Pro"/>
            </a:endParaRPr>
          </a:p>
        </p:txBody>
      </p:sp>
      <p:pic>
        <p:nvPicPr>
          <p:cNvPr id="99" name="Google Shape;99;p16"/>
          <p:cNvPicPr preferRelativeResize="0"/>
          <p:nvPr/>
        </p:nvPicPr>
        <p:blipFill>
          <a:blip r:embed="rId5">
            <a:alphaModFix/>
          </a:blip>
          <a:stretch>
            <a:fillRect/>
          </a:stretch>
        </p:blipFill>
        <p:spPr>
          <a:xfrm>
            <a:off x="821457" y="3543209"/>
            <a:ext cx="674100" cy="6741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17"/>
          <p:cNvPicPr preferRelativeResize="0"/>
          <p:nvPr/>
        </p:nvPicPr>
        <p:blipFill>
          <a:blip r:embed="rId3">
            <a:alphaModFix amt="5000"/>
          </a:blip>
          <a:stretch>
            <a:fillRect/>
          </a:stretch>
        </p:blipFill>
        <p:spPr>
          <a:xfrm>
            <a:off x="835818" y="266622"/>
            <a:ext cx="7942200" cy="4275628"/>
          </a:xfrm>
          <a:prstGeom prst="rect">
            <a:avLst/>
          </a:prstGeom>
          <a:noFill/>
          <a:ln>
            <a:noFill/>
          </a:ln>
        </p:spPr>
      </p:pic>
      <p:sp>
        <p:nvSpPr>
          <p:cNvPr id="105" name="Google Shape;105;p17"/>
          <p:cNvSpPr txBox="1"/>
          <p:nvPr>
            <p:ph idx="12" type="sldNum"/>
          </p:nvPr>
        </p:nvSpPr>
        <p:spPr>
          <a:xfrm>
            <a:off x="8903351"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06" name="Google Shape;106;p17"/>
          <p:cNvSpPr txBox="1"/>
          <p:nvPr/>
        </p:nvSpPr>
        <p:spPr>
          <a:xfrm>
            <a:off x="1084143" y="368554"/>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07" name="Google Shape;107;p17"/>
          <p:cNvSpPr txBox="1"/>
          <p:nvPr/>
        </p:nvSpPr>
        <p:spPr>
          <a:xfrm>
            <a:off x="2143643" y="387154"/>
            <a:ext cx="5461500" cy="1108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ការទិញ (Purchases) និង ការលក់ (Sales) ដើម្បីទាញយករបាយការណ៍និងតាមដានប្រតិបត្តិការរបស់ហាង។</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sz="1500">
              <a:solidFill>
                <a:schemeClr val="dk1"/>
              </a:solidFill>
              <a:latin typeface="Kantumruy Pro"/>
              <a:ea typeface="Kantumruy Pro"/>
              <a:cs typeface="Kantumruy Pro"/>
              <a:sym typeface="Kantumruy Pro"/>
            </a:endParaRPr>
          </a:p>
        </p:txBody>
      </p:sp>
      <p:sp>
        <p:nvSpPr>
          <p:cNvPr id="108" name="Google Shape;108;p1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09" name="Google Shape;109;p17"/>
          <p:cNvSpPr txBox="1"/>
          <p:nvPr/>
        </p:nvSpPr>
        <p:spPr>
          <a:xfrm>
            <a:off x="1101620" y="139927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0" name="Google Shape;110;p17"/>
          <p:cNvSpPr txBox="1"/>
          <p:nvPr/>
        </p:nvSpPr>
        <p:spPr>
          <a:xfrm>
            <a:off x="2161120" y="141787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បុគ្គលិក (Employees) និងតួនាទី (Roles) ដើម្បីកំណត់សិទ្ធិប្រើប្រាស់ប្រព័ន្ធ។</a:t>
            </a:r>
            <a:endParaRPr sz="1500">
              <a:solidFill>
                <a:schemeClr val="dk1"/>
              </a:solidFill>
              <a:latin typeface="Kantumruy Pro"/>
              <a:ea typeface="Kantumruy Pro"/>
              <a:cs typeface="Kantumruy Pro"/>
              <a:sym typeface="Kantumruy Pro"/>
            </a:endParaRPr>
          </a:p>
        </p:txBody>
      </p:sp>
      <p:pic>
        <p:nvPicPr>
          <p:cNvPr id="111" name="Google Shape;111;p17"/>
          <p:cNvPicPr preferRelativeResize="0"/>
          <p:nvPr/>
        </p:nvPicPr>
        <p:blipFill>
          <a:blip r:embed="rId4">
            <a:alphaModFix/>
          </a:blip>
          <a:stretch>
            <a:fillRect/>
          </a:stretch>
        </p:blipFill>
        <p:spPr>
          <a:xfrm>
            <a:off x="1235306" y="448212"/>
            <a:ext cx="674100" cy="674100"/>
          </a:xfrm>
          <a:prstGeom prst="rect">
            <a:avLst/>
          </a:prstGeom>
          <a:noFill/>
          <a:ln>
            <a:noFill/>
          </a:ln>
        </p:spPr>
      </p:pic>
      <p:pic>
        <p:nvPicPr>
          <p:cNvPr id="112" name="Google Shape;112;p17"/>
          <p:cNvPicPr preferRelativeResize="0"/>
          <p:nvPr/>
        </p:nvPicPr>
        <p:blipFill>
          <a:blip r:embed="rId5">
            <a:alphaModFix/>
          </a:blip>
          <a:stretch>
            <a:fillRect/>
          </a:stretch>
        </p:blipFill>
        <p:spPr>
          <a:xfrm>
            <a:off x="1133268" y="1386715"/>
            <a:ext cx="859800" cy="859800"/>
          </a:xfrm>
          <a:prstGeom prst="rect">
            <a:avLst/>
          </a:prstGeom>
          <a:noFill/>
          <a:ln>
            <a:noFill/>
          </a:ln>
        </p:spPr>
      </p:pic>
      <p:sp>
        <p:nvSpPr>
          <p:cNvPr id="113" name="Google Shape;113;p17"/>
          <p:cNvSpPr txBox="1"/>
          <p:nvPr/>
        </p:nvSpPr>
        <p:spPr>
          <a:xfrm>
            <a:off x="1101620" y="244656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4" name="Google Shape;114;p17"/>
          <p:cNvSpPr txBox="1"/>
          <p:nvPr/>
        </p:nvSpPr>
        <p:spPr>
          <a:xfrm>
            <a:off x="2161120" y="246516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សារពើភ័ណ្ឌ (Inventory) ដើម្បីដឹងពីបរិមាណទំនិញនៅក្នុងស្តុក</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និងការបញ្ជាទិញបន្ថែម។</a:t>
            </a:r>
            <a:endParaRPr sz="1500">
              <a:solidFill>
                <a:schemeClr val="dk1"/>
              </a:solidFill>
              <a:latin typeface="Kantumruy Pro"/>
              <a:ea typeface="Kantumruy Pro"/>
              <a:cs typeface="Kantumruy Pro"/>
              <a:sym typeface="Kantumruy Pro"/>
            </a:endParaRPr>
          </a:p>
        </p:txBody>
      </p:sp>
      <p:pic>
        <p:nvPicPr>
          <p:cNvPr id="115" name="Google Shape;115;p17"/>
          <p:cNvPicPr preferRelativeResize="0"/>
          <p:nvPr/>
        </p:nvPicPr>
        <p:blipFill>
          <a:blip r:embed="rId6">
            <a:alphaModFix/>
          </a:blip>
          <a:stretch>
            <a:fillRect/>
          </a:stretch>
        </p:blipFill>
        <p:spPr>
          <a:xfrm>
            <a:off x="1269336" y="2499196"/>
            <a:ext cx="762001" cy="762001"/>
          </a:xfrm>
          <a:prstGeom prst="rect">
            <a:avLst/>
          </a:prstGeom>
          <a:noFill/>
          <a:ln>
            <a:noFill/>
          </a:ln>
        </p:spPr>
      </p:pic>
      <p:sp>
        <p:nvSpPr>
          <p:cNvPr id="116" name="Google Shape;116;p17"/>
          <p:cNvSpPr txBox="1"/>
          <p:nvPr/>
        </p:nvSpPr>
        <p:spPr>
          <a:xfrm>
            <a:off x="1084143" y="359146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7" name="Google Shape;117;p17"/>
          <p:cNvSpPr txBox="1"/>
          <p:nvPr/>
        </p:nvSpPr>
        <p:spPr>
          <a:xfrm>
            <a:off x="2143643" y="361006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ការទូទាត់ (Payments) ដើម្បីតាមដានប្រាក់ចូលចេញ</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និងស្ថានភាពនៃការបង់ប្រាក់។</a:t>
            </a:r>
            <a:endParaRPr sz="1500">
              <a:solidFill>
                <a:schemeClr val="dk1"/>
              </a:solidFill>
              <a:latin typeface="Kantumruy Pro"/>
              <a:ea typeface="Kantumruy Pro"/>
              <a:cs typeface="Kantumruy Pro"/>
              <a:sym typeface="Kantumruy Pro"/>
            </a:endParaRPr>
          </a:p>
        </p:txBody>
      </p:sp>
      <p:pic>
        <p:nvPicPr>
          <p:cNvPr id="118" name="Google Shape;118;p17"/>
          <p:cNvPicPr preferRelativeResize="0"/>
          <p:nvPr/>
        </p:nvPicPr>
        <p:blipFill>
          <a:blip r:embed="rId7">
            <a:alphaModFix/>
          </a:blip>
          <a:stretch>
            <a:fillRect/>
          </a:stretch>
        </p:blipFill>
        <p:spPr>
          <a:xfrm>
            <a:off x="1231543" y="3640362"/>
            <a:ext cx="761999" cy="7619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8"/>
          <p:cNvSpPr txBox="1"/>
          <p:nvPr>
            <p:ph idx="1" type="subTitle"/>
          </p:nvPr>
        </p:nvSpPr>
        <p:spPr>
          <a:xfrm>
            <a:off x="405126" y="-23800"/>
            <a:ext cx="5978100" cy="674100"/>
          </a:xfrm>
          <a:prstGeom prst="rect">
            <a:avLst/>
          </a:prstGeom>
        </p:spPr>
        <p:txBody>
          <a:bodyPr anchorCtr="0" anchor="t" bIns="91425" lIns="91425" spcFirstLastPara="1" rIns="91425" wrap="square" tIns="91425">
            <a:noAutofit/>
          </a:bodyPr>
          <a:lstStyle/>
          <a:p>
            <a:pPr indent="-387350" lvl="0" marL="457200" rtl="0" algn="l">
              <a:lnSpc>
                <a:spcPct val="150000"/>
              </a:lnSpc>
              <a:spcBef>
                <a:spcPts val="0"/>
              </a:spcBef>
              <a:spcAft>
                <a:spcPts val="0"/>
              </a:spcAft>
              <a:buClr>
                <a:schemeClr val="dk1"/>
              </a:buClr>
              <a:buSzPts val="2500"/>
              <a:buFont typeface="Kantumruy Pro"/>
              <a:buAutoNum type="arabicPeriod" startAt="2"/>
            </a:pPr>
            <a:r>
              <a:rPr b="1" lang="en" sz="2500">
                <a:solidFill>
                  <a:schemeClr val="dk1"/>
                </a:solidFill>
                <a:latin typeface="Kantumruy Pro"/>
                <a:ea typeface="Kantumruy Pro"/>
                <a:cs typeface="Kantumruy Pro"/>
                <a:sym typeface="Kantumruy Pro"/>
              </a:rPr>
              <a:t>Form</a:t>
            </a:r>
            <a:endParaRPr b="1" sz="2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t/>
            </a:r>
            <a:endParaRPr b="1" sz="2500">
              <a:solidFill>
                <a:schemeClr val="dk1"/>
              </a:solidFill>
              <a:latin typeface="Kantumruy Pro"/>
              <a:ea typeface="Kantumruy Pro"/>
              <a:cs typeface="Kantumruy Pro"/>
              <a:sym typeface="Kantumruy Pro"/>
            </a:endParaRPr>
          </a:p>
        </p:txBody>
      </p:sp>
      <p:sp>
        <p:nvSpPr>
          <p:cNvPr id="124" name="Google Shape;124;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25" name="Google Shape;125;p18"/>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អន ភក្តី - Orn Pheakdey</a:t>
            </a:r>
            <a:endParaRPr b="1" i="1">
              <a:solidFill>
                <a:srgbClr val="741B47"/>
              </a:solidFill>
            </a:endParaRPr>
          </a:p>
        </p:txBody>
      </p:sp>
      <p:pic>
        <p:nvPicPr>
          <p:cNvPr id="126" name="Google Shape;126;p18" title="FormEmployee.PNG"/>
          <p:cNvPicPr preferRelativeResize="0"/>
          <p:nvPr/>
        </p:nvPicPr>
        <p:blipFill>
          <a:blip r:embed="rId3">
            <a:alphaModFix/>
          </a:blip>
          <a:stretch>
            <a:fillRect/>
          </a:stretch>
        </p:blipFill>
        <p:spPr>
          <a:xfrm>
            <a:off x="2319579" y="680368"/>
            <a:ext cx="6692474" cy="3560525"/>
          </a:xfrm>
          <a:prstGeom prst="rect">
            <a:avLst/>
          </a:prstGeom>
          <a:noFill/>
          <a:ln cap="flat" cmpd="sng" w="9525">
            <a:solidFill>
              <a:schemeClr val="dk2"/>
            </a:solidFill>
            <a:prstDash val="solid"/>
            <a:round/>
            <a:headEnd len="sm" w="sm" type="none"/>
            <a:tailEnd len="sm" w="sm" type="none"/>
          </a:ln>
        </p:spPr>
      </p:pic>
      <p:sp>
        <p:nvSpPr>
          <p:cNvPr id="127" name="Google Shape;127;p18"/>
          <p:cNvSpPr txBox="1"/>
          <p:nvPr/>
        </p:nvSpPr>
        <p:spPr>
          <a:xfrm>
            <a:off x="393786" y="1162407"/>
            <a:ext cx="19194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FormEmployee អនុញ្ញាត​ឱ្យ​អ្នក​ប្រើ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​មើល ថែម កែប្រែ និង​ លុប​ ព័ត៌មាន​ បុគ្គលិក។</a:t>
            </a:r>
            <a:endParaRPr sz="1500">
              <a:solidFill>
                <a:schemeClr val="dk1"/>
              </a:solidFill>
              <a:latin typeface="Kantumruy Pro"/>
              <a:ea typeface="Kantumruy Pro"/>
              <a:cs typeface="Kantumruy Pro"/>
              <a:sym typeface="Kantumruy Pr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33" name="Google Shape;133;p19"/>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អន ភក្តី - Orn Pheakdey</a:t>
            </a:r>
            <a:endParaRPr b="1" i="1">
              <a:solidFill>
                <a:srgbClr val="741B47"/>
              </a:solidFill>
            </a:endParaRPr>
          </a:p>
        </p:txBody>
      </p:sp>
      <p:sp>
        <p:nvSpPr>
          <p:cNvPr id="134" name="Google Shape;134;p19"/>
          <p:cNvSpPr txBox="1"/>
          <p:nvPr/>
        </p:nvSpPr>
        <p:spPr>
          <a:xfrm>
            <a:off x="16699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FormCustomer អនុញ្ញាត​ឱ្យ​អ្នក​ប្រើ​ប្រាស់​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មើល កែប្រែ និង​ បន្ថែម​ ព័ត៌មាន​លម្អិត​របស់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អតិថិជន​ទាំងអស់។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135" name="Google Shape;135;p19" title="FormCustomer.PNG"/>
          <p:cNvPicPr preferRelativeResize="0"/>
          <p:nvPr/>
        </p:nvPicPr>
        <p:blipFill>
          <a:blip r:embed="rId3">
            <a:alphaModFix/>
          </a:blip>
          <a:stretch>
            <a:fillRect/>
          </a:stretch>
        </p:blipFill>
        <p:spPr>
          <a:xfrm>
            <a:off x="1926375" y="401850"/>
            <a:ext cx="7111049" cy="38957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1" name="Google Shape;141;p20"/>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អន ភក្តី - Orn Pheakdey</a:t>
            </a:r>
            <a:endParaRPr b="1" i="1">
              <a:solidFill>
                <a:srgbClr val="741B47"/>
              </a:solidFill>
            </a:endParaRPr>
          </a:p>
        </p:txBody>
      </p:sp>
      <p:sp>
        <p:nvSpPr>
          <p:cNvPr id="142" name="Google Shape;142;p20"/>
          <p:cNvSpPr txBox="1"/>
          <p:nvPr/>
        </p:nvSpPr>
        <p:spPr>
          <a:xfrm>
            <a:off x="17833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 ការ​ទូទាត់​ប្រាក់</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(FormPayment) ជា​កន្លែង​សម្រាប់​ </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កត់ត្រា និង​គ្រប់គ្រង​ ប្រតិបត្តិការ​ទូទាត់​នានា។</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143" name="Google Shape;143;p20" title="FormPayment.PNG"/>
          <p:cNvPicPr preferRelativeResize="0"/>
          <p:nvPr/>
        </p:nvPicPr>
        <p:blipFill>
          <a:blip r:embed="rId3">
            <a:alphaModFix/>
          </a:blip>
          <a:stretch>
            <a:fillRect/>
          </a:stretch>
        </p:blipFill>
        <p:spPr>
          <a:xfrm>
            <a:off x="1979743" y="422318"/>
            <a:ext cx="7091701" cy="35577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9" name="Google Shape;149;p21"/>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អន ភក្តី - Orn Pheakdey</a:t>
            </a:r>
            <a:endParaRPr b="1" i="1">
              <a:solidFill>
                <a:srgbClr val="741B47"/>
              </a:solidFill>
            </a:endParaRPr>
          </a:p>
        </p:txBody>
      </p:sp>
      <p:sp>
        <p:nvSpPr>
          <p:cNvPr id="150" name="Google Shape;150;p21"/>
          <p:cNvSpPr txBox="1"/>
          <p:nvPr/>
        </p:nvSpPr>
        <p:spPr>
          <a:xfrm>
            <a:off x="238125" y="1445900"/>
            <a:ext cx="26421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FormSale ប្រើ​សម្រាប់​កត់ត្រា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​រាល់​ប្រតិបត្តិការ​លក់​ទំនិញ ឬ​ សេវាកម្ម​ទៅ​ឱ្យ​អតិថិជន (Customers)។</a:t>
            </a:r>
            <a:endParaRPr sz="1500">
              <a:solidFill>
                <a:schemeClr val="dk1"/>
              </a:solidFill>
              <a:latin typeface="Kantumruy Pro"/>
              <a:ea typeface="Kantumruy Pro"/>
              <a:cs typeface="Kantumruy Pro"/>
              <a:sym typeface="Kantumruy Pro"/>
            </a:endParaRPr>
          </a:p>
        </p:txBody>
      </p:sp>
      <p:pic>
        <p:nvPicPr>
          <p:cNvPr id="151" name="Google Shape;151;p21" title="FormSale.PNG"/>
          <p:cNvPicPr preferRelativeResize="0"/>
          <p:nvPr/>
        </p:nvPicPr>
        <p:blipFill>
          <a:blip r:embed="rId3">
            <a:alphaModFix/>
          </a:blip>
          <a:stretch>
            <a:fillRect/>
          </a:stretch>
        </p:blipFill>
        <p:spPr>
          <a:xfrm>
            <a:off x="2620999" y="85875"/>
            <a:ext cx="6304276" cy="4970949"/>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57" name="Google Shape;157;p22"/>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58" name="Google Shape;158;p22"/>
          <p:cNvSpPr txBox="1"/>
          <p:nvPr>
            <p:ph idx="1" type="subTitle"/>
          </p:nvPr>
        </p:nvSpPr>
        <p:spPr>
          <a:xfrm>
            <a:off x="405126" y="-23800"/>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3. លក្ខណៈ OOP</a:t>
            </a:r>
            <a:endParaRPr b="1" sz="2500">
              <a:solidFill>
                <a:schemeClr val="dk1"/>
              </a:solidFill>
              <a:latin typeface="Kantumruy Pro"/>
              <a:ea typeface="Kantumruy Pro"/>
              <a:cs typeface="Kantumruy Pro"/>
              <a:sym typeface="Kantumruy Pro"/>
            </a:endParaRPr>
          </a:p>
        </p:txBody>
      </p:sp>
      <p:pic>
        <p:nvPicPr>
          <p:cNvPr id="159" name="Google Shape;159;p22" title="Employee.png"/>
          <p:cNvPicPr preferRelativeResize="0"/>
          <p:nvPr/>
        </p:nvPicPr>
        <p:blipFill>
          <a:blip r:embed="rId3">
            <a:alphaModFix/>
          </a:blip>
          <a:stretch>
            <a:fillRect/>
          </a:stretch>
        </p:blipFill>
        <p:spPr>
          <a:xfrm>
            <a:off x="4020182" y="-1401825"/>
            <a:ext cx="4756400" cy="6391101"/>
          </a:xfrm>
          <a:prstGeom prst="rect">
            <a:avLst/>
          </a:prstGeom>
          <a:noFill/>
          <a:ln>
            <a:noFill/>
          </a:ln>
        </p:spPr>
      </p:pic>
      <p:sp>
        <p:nvSpPr>
          <p:cNvPr id="160" name="Google Shape;160;p22"/>
          <p:cNvSpPr txBox="1"/>
          <p:nvPr/>
        </p:nvSpPr>
        <p:spPr>
          <a:xfrm>
            <a:off x="631911" y="1177302"/>
            <a:ext cx="3197700" cy="28398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FormEmplyee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FormEmplyee មានទំនាក់ទំនង Aggregation ជាមួយនឹង Class Employee</a:t>
            </a:r>
            <a:endParaRPr sz="1500">
              <a:solidFill>
                <a:schemeClr val="dk1"/>
              </a:solidFill>
              <a:latin typeface="Kantumruy Pro"/>
              <a:ea typeface="Kantumruy Pro"/>
              <a:cs typeface="Kantumruy Pro"/>
              <a:sym typeface="Kantumruy Pr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66" name="Google Shape;166;p23"/>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67" name="Google Shape;167;p23"/>
          <p:cNvSpPr txBox="1"/>
          <p:nvPr/>
        </p:nvSpPr>
        <p:spPr>
          <a:xfrm>
            <a:off x="631911" y="769088"/>
            <a:ext cx="3197700" cy="28398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a:t>
            </a:r>
            <a:r>
              <a:rPr lang="en" sz="1500">
                <a:solidFill>
                  <a:schemeClr val="dk1"/>
                </a:solidFill>
                <a:latin typeface="Kantumruy Pro"/>
                <a:ea typeface="Kantumruy Pro"/>
                <a:cs typeface="Kantumruy Pro"/>
                <a:sym typeface="Kantumruy Pro"/>
              </a:rPr>
              <a:t>FormCustomer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FormCustomer មានទំនាក់ទំនង Aggregation ជាមួយនឹង Class Customer</a:t>
            </a:r>
            <a:endParaRPr sz="1500">
              <a:solidFill>
                <a:schemeClr val="dk1"/>
              </a:solidFill>
              <a:latin typeface="Kantumruy Pro"/>
              <a:ea typeface="Kantumruy Pro"/>
              <a:cs typeface="Kantumruy Pro"/>
              <a:sym typeface="Kantumruy Pro"/>
            </a:endParaRPr>
          </a:p>
        </p:txBody>
      </p:sp>
      <p:pic>
        <p:nvPicPr>
          <p:cNvPr id="168" name="Google Shape;168;p23" title="Customer.png"/>
          <p:cNvPicPr preferRelativeResize="0"/>
          <p:nvPr/>
        </p:nvPicPr>
        <p:blipFill>
          <a:blip r:embed="rId3">
            <a:alphaModFix/>
          </a:blip>
          <a:stretch>
            <a:fillRect/>
          </a:stretch>
        </p:blipFill>
        <p:spPr>
          <a:xfrm>
            <a:off x="4084919" y="-1259775"/>
            <a:ext cx="4659092" cy="615819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74" name="Google Shape;174;p24"/>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75" name="Google Shape;175;p24"/>
          <p:cNvSpPr txBox="1"/>
          <p:nvPr/>
        </p:nvSpPr>
        <p:spPr>
          <a:xfrm>
            <a:off x="211326" y="373243"/>
            <a:ext cx="3197700" cy="38790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FormPayment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FormPayment មានទំនាក់ទំនង Aggregation ជាមួយនឹង Class Payment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Payment មានទំនាក់ទំនង Aggregation ជាមួយនឹង Class Sale</a:t>
            </a:r>
            <a:endParaRPr sz="1500">
              <a:solidFill>
                <a:schemeClr val="dk1"/>
              </a:solidFill>
              <a:latin typeface="Kantumruy Pro"/>
              <a:ea typeface="Kantumruy Pro"/>
              <a:cs typeface="Kantumruy Pro"/>
              <a:sym typeface="Kantumruy Pro"/>
            </a:endParaRPr>
          </a:p>
        </p:txBody>
      </p:sp>
      <p:pic>
        <p:nvPicPr>
          <p:cNvPr id="176" name="Google Shape;176;p24" title="Payment.png"/>
          <p:cNvPicPr preferRelativeResize="0"/>
          <p:nvPr/>
        </p:nvPicPr>
        <p:blipFill>
          <a:blip r:embed="rId3">
            <a:alphaModFix/>
          </a:blip>
          <a:stretch>
            <a:fillRect/>
          </a:stretch>
        </p:blipFill>
        <p:spPr>
          <a:xfrm>
            <a:off x="3829600" y="-1584300"/>
            <a:ext cx="7014250" cy="65472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82" name="Google Shape;182;p25"/>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83" name="Google Shape;183;p25"/>
          <p:cNvSpPr txBox="1"/>
          <p:nvPr/>
        </p:nvSpPr>
        <p:spPr>
          <a:xfrm>
            <a:off x="211326" y="373243"/>
            <a:ext cx="3197700" cy="35325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Seller ធ្វើការ sell product, add product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Purchaser </a:t>
            </a:r>
            <a:r>
              <a:rPr lang="en" sz="1500">
                <a:solidFill>
                  <a:schemeClr val="dk1"/>
                </a:solidFill>
                <a:latin typeface="Kantumruy Pro"/>
                <a:ea typeface="Kantumruy Pro"/>
                <a:cs typeface="Kantumruy Pro"/>
                <a:sym typeface="Kantumruy Pro"/>
              </a:rPr>
              <a:t>ធ្វើការ purchase product, add product </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HR </a:t>
            </a:r>
            <a:r>
              <a:rPr lang="en" sz="1500">
                <a:solidFill>
                  <a:schemeClr val="dk1"/>
                </a:solidFill>
                <a:latin typeface="Kantumruy Pro"/>
                <a:ea typeface="Kantumruy Pro"/>
                <a:cs typeface="Kantumruy Pro"/>
                <a:sym typeface="Kantumruy Pro"/>
              </a:rPr>
              <a:t>ធ្វើការ manage employee</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Administrator ធ្វើការ inherit ចេញពី HR និងបន្ថែមទៅលើ sell product, purchase product, add product, create inventory</a:t>
            </a:r>
            <a:endParaRPr sz="1500">
              <a:solidFill>
                <a:schemeClr val="dk1"/>
              </a:solidFill>
              <a:latin typeface="Kantumruy Pro"/>
              <a:ea typeface="Kantumruy Pro"/>
              <a:cs typeface="Kantumruy Pro"/>
              <a:sym typeface="Kantumruy Pro"/>
            </a:endParaRPr>
          </a:p>
        </p:txBody>
      </p:sp>
      <p:pic>
        <p:nvPicPr>
          <p:cNvPr id="184" name="Google Shape;184;p25" title="use_case_diagram.png"/>
          <p:cNvPicPr preferRelativeResize="0"/>
          <p:nvPr/>
        </p:nvPicPr>
        <p:blipFill>
          <a:blip r:embed="rId3">
            <a:alphaModFix/>
          </a:blip>
          <a:stretch>
            <a:fillRect/>
          </a:stretch>
        </p:blipFill>
        <p:spPr>
          <a:xfrm>
            <a:off x="3561425" y="89625"/>
            <a:ext cx="5330525" cy="46467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0" name="Google Shape;190;p2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លិ ស្រីម៉ា​ ​- Le Sreyma</a:t>
            </a:r>
            <a:endParaRPr b="1" i="1">
              <a:solidFill>
                <a:srgbClr val="741B47"/>
              </a:solidFill>
            </a:endParaRPr>
          </a:p>
        </p:txBody>
      </p:sp>
      <p:sp>
        <p:nvSpPr>
          <p:cNvPr id="191" name="Google Shape;191;p26"/>
          <p:cNvSpPr txBox="1"/>
          <p:nvPr/>
        </p:nvSpPr>
        <p:spPr>
          <a:xfrm>
            <a:off x="692225" y="1205516"/>
            <a:ext cx="8068800" cy="2667300"/>
          </a:xfrm>
          <a:prstGeom prst="rect">
            <a:avLst/>
          </a:prstGeom>
          <a:noFill/>
          <a:ln>
            <a:noFill/>
          </a:ln>
        </p:spPr>
        <p:txBody>
          <a:bodyPr anchorCtr="0" anchor="t" bIns="91425" lIns="91425" spcFirstLastPara="1" rIns="91425" wrap="square" tIns="91425">
            <a:spAutoFit/>
          </a:bodyPr>
          <a:lstStyle/>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តាមរយៈការអភិវឌ្ឍប្រព័ន្ធ Mart Management System នេះ យើងអាចសន្និដ្ឋានបានថា</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ប្រព័ន្ធនេះអាចជួយដល់សហគ្រាស ឬអាជីវកម្មផ្សារ ក្នុងការគ្រប់គ្រងទិន្ន័យជាប្រព័ន្ធ</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និងកាត់បន្ថយកំហុសមនុស្ស។</a:t>
            </a:r>
            <a:endParaRPr sz="1500">
              <a:solidFill>
                <a:schemeClr val="dk1"/>
              </a:solidFill>
              <a:latin typeface="Kantumruy Pro"/>
              <a:ea typeface="Kantumruy Pro"/>
              <a:cs typeface="Kantumruy Pro"/>
              <a:sym typeface="Kantumruy Pro"/>
            </a:endParaRPr>
          </a:p>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ប្រព័ន្ធនេះបានបង្ហាញពីការអនុវត្តន៍យ៉ាងជាក់ស្តែងនៃគោលការណ៍ Object-Oriented</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Programming (OOP) ដោយប្រើ UML Class Diagram ដើម្បីបង្ហាញទំនាក់ទំនងរវាង</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classes ផ្សេងៗ និងការទំនាក់ទំនងរវាងតារាងទិន្ន័យ (Entity Relationship Diagram)</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ដែលធ្វើឲ្យប្រព័ន្ធមានសភាពងាយស្រួលក្នុងការរក្សាទុក កែប្រែ និងពង្រីក។</a:t>
            </a:r>
            <a:endParaRPr sz="1500">
              <a:solidFill>
                <a:schemeClr val="dk1"/>
              </a:solidFill>
              <a:latin typeface="Kantumruy Pro"/>
              <a:ea typeface="Kantumruy Pro"/>
              <a:cs typeface="Kantumruy Pro"/>
              <a:sym typeface="Kantumruy Pro"/>
            </a:endParaRPr>
          </a:p>
        </p:txBody>
      </p:sp>
      <p:sp>
        <p:nvSpPr>
          <p:cNvPr id="192" name="Google Shape;192;p26"/>
          <p:cNvSpPr txBox="1"/>
          <p:nvPr>
            <p:ph idx="1" type="subTitle"/>
          </p:nvPr>
        </p:nvSpPr>
        <p:spPr>
          <a:xfrm>
            <a:off x="405126" y="273083"/>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4</a:t>
            </a:r>
            <a:r>
              <a:rPr b="1" lang="en" sz="2500">
                <a:solidFill>
                  <a:schemeClr val="dk1"/>
                </a:solidFill>
                <a:latin typeface="Kantumruy Pro"/>
                <a:ea typeface="Kantumruy Pro"/>
                <a:cs typeface="Kantumruy Pro"/>
                <a:sym typeface="Kantumruy Pro"/>
              </a:rPr>
              <a:t>. </a:t>
            </a:r>
            <a:r>
              <a:rPr b="1" lang="en" sz="2500">
                <a:solidFill>
                  <a:schemeClr val="dk1"/>
                </a:solidFill>
                <a:latin typeface="Kantumruy Pro"/>
                <a:ea typeface="Kantumruy Pro"/>
                <a:cs typeface="Kantumruy Pro"/>
                <a:sym typeface="Kantumruy Pro"/>
              </a:rPr>
              <a:t>សន្និដ្ឋាន</a:t>
            </a:r>
            <a:endParaRPr b="1" sz="2500">
              <a:solidFill>
                <a:schemeClr val="dk1"/>
              </a:solidFill>
              <a:latin typeface="Kantumruy Pro"/>
              <a:ea typeface="Kantumruy Pro"/>
              <a:cs typeface="Kantumruy Pro"/>
              <a:sym typeface="Kantumruy Pro"/>
            </a:endParaRPr>
          </a:p>
        </p:txBody>
      </p:sp>
      <p:pic>
        <p:nvPicPr>
          <p:cNvPr id="193" name="Google Shape;193;p26"/>
          <p:cNvPicPr preferRelativeResize="0"/>
          <p:nvPr/>
        </p:nvPicPr>
        <p:blipFill>
          <a:blip r:embed="rId3">
            <a:alphaModFix amt="5000"/>
          </a:blip>
          <a:stretch>
            <a:fillRect/>
          </a:stretch>
        </p:blipFill>
        <p:spPr>
          <a:xfrm>
            <a:off x="813150" y="606797"/>
            <a:ext cx="7942200" cy="427562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9" name="Google Shape;199;p2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200" name="Google Shape;200;p27"/>
          <p:cNvSpPr txBox="1"/>
          <p:nvPr>
            <p:ph idx="1" type="subTitle"/>
          </p:nvPr>
        </p:nvSpPr>
        <p:spPr>
          <a:xfrm>
            <a:off x="405126" y="161752"/>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5</a:t>
            </a:r>
            <a:r>
              <a:rPr b="1" lang="en" sz="2500">
                <a:solidFill>
                  <a:schemeClr val="dk1"/>
                </a:solidFill>
                <a:latin typeface="Kantumruy Pro"/>
                <a:ea typeface="Kantumruy Pro"/>
                <a:cs typeface="Kantumruy Pro"/>
                <a:sym typeface="Kantumruy Pro"/>
              </a:rPr>
              <a:t>. Demo</a:t>
            </a:r>
            <a:endParaRPr b="1" sz="2500">
              <a:solidFill>
                <a:schemeClr val="dk1"/>
              </a:solidFill>
              <a:latin typeface="Kantumruy Pro"/>
              <a:ea typeface="Kantumruy Pro"/>
              <a:cs typeface="Kantumruy Pro"/>
              <a:sym typeface="Kantumruy Pro"/>
            </a:endParaRPr>
          </a:p>
        </p:txBody>
      </p:sp>
      <p:pic>
        <p:nvPicPr>
          <p:cNvPr descr="Group of young people holding placard saying thank you. Thanking doctors and police. Thankful men and pleased women. Gratitude poster. Appreciation to emergency workers. Vector concept (Provided by Getty Images)" id="201" name="Google Shape;201;p27"/>
          <p:cNvPicPr preferRelativeResize="0"/>
          <p:nvPr/>
        </p:nvPicPr>
        <p:blipFill>
          <a:blip r:embed="rId3">
            <a:alphaModFix/>
          </a:blip>
          <a:stretch>
            <a:fillRect/>
          </a:stretch>
        </p:blipFill>
        <p:spPr>
          <a:xfrm>
            <a:off x="152400" y="692875"/>
            <a:ext cx="8687242" cy="397035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