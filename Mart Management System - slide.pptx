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Kantumruy Pro"/>
      <p:regular r:id="rId20"/>
      <p:bold r:id="rId21"/>
      <p:italic r:id="rId22"/>
      <p:boldItalic r:id="rId23"/>
    </p:embeddedFont>
    <p:embeddedFont>
      <p:font typeface="Roboto Mon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KantumruyPro-regular.fntdata"/><Relationship Id="rId22" Type="http://schemas.openxmlformats.org/officeDocument/2006/relationships/font" Target="fonts/KantumruyPro-italic.fntdata"/><Relationship Id="rId21" Type="http://schemas.openxmlformats.org/officeDocument/2006/relationships/font" Target="fonts/KantumruyPro-bold.fntdata"/><Relationship Id="rId24" Type="http://schemas.openxmlformats.org/officeDocument/2006/relationships/font" Target="fonts/RobotoMono-regular.fntdata"/><Relationship Id="rId23" Type="http://schemas.openxmlformats.org/officeDocument/2006/relationships/font" Target="fonts/KantumruyPr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Mono-italic.fntdata"/><Relationship Id="rId25" Type="http://schemas.openxmlformats.org/officeDocument/2006/relationships/font" Target="fonts/RobotoMono-bold.fntdata"/><Relationship Id="rId27" Type="http://schemas.openxmlformats.org/officeDocument/2006/relationships/font" Target="fonts/RobotoMon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8725c6bd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8725c6bd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fbe8f1f0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fbe8f1f0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fbe8f1f0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9fbe8f1f0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fbe8f1f02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fbe8f1f0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fbe8f1f02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fbe8f1f02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fbe8f1f02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9fbe8f1f02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fbe8f1f02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fbe8f1f02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fbe8f1f02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fbe8f1f02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fbe8f1f02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fbe8f1f02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9887e9b1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9887e9b1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9887e9b1fb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9887e9b1fb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dk1"/>
                </a:solidFill>
              </a:rPr>
              <a:t>🧠 Core OOP Design Principles in Your UML Diagram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1. Encapsulation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Encapsulation means bundling data and methods that operate on that data within a class, and restricting direct access to some components.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Product class</a:t>
            </a:r>
            <a:r>
              <a:rPr lang="en">
                <a:solidFill>
                  <a:schemeClr val="dk1"/>
                </a:solidFill>
              </a:rPr>
              <a:t> encapsulates attributes like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productID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productName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price</a:t>
            </a:r>
            <a:r>
              <a:rPr lang="en">
                <a:solidFill>
                  <a:schemeClr val="dk1"/>
                </a:solidFill>
              </a:rPr>
              <a:t>, and methods to access them via </a:t>
            </a:r>
            <a:r>
              <a:rPr b="1" lang="en">
                <a:solidFill>
                  <a:schemeClr val="dk1"/>
                </a:solidFill>
              </a:rPr>
              <a:t>read-write properties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FormProduct</a:t>
            </a:r>
            <a:r>
              <a:rPr lang="en">
                <a:solidFill>
                  <a:schemeClr val="dk1"/>
                </a:solidFill>
              </a:rPr>
              <a:t> encapsulates UI logic (e.g.,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BtnSubmit_Click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BtnEdit_Click</a:t>
            </a:r>
            <a:r>
              <a:rPr lang="en">
                <a:solidFill>
                  <a:schemeClr val="dk1"/>
                </a:solidFill>
              </a:rPr>
              <a:t>) and manages the current product state internally (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-currentProduct</a:t>
            </a:r>
            <a:r>
              <a:rPr lang="en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2. Abstraction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Abstraction hides complex implementation details and exposes only the necessary parts.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FormProduct</a:t>
            </a:r>
            <a:r>
              <a:rPr lang="en">
                <a:solidFill>
                  <a:schemeClr val="dk1"/>
                </a:solidFill>
              </a:rPr>
              <a:t> abstracts user interactions (button clicks, combo box changes) without exposing internal logic to the UI layer.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Product</a:t>
            </a:r>
            <a:r>
              <a:rPr lang="en">
                <a:solidFill>
                  <a:schemeClr val="dk1"/>
                </a:solidFill>
              </a:rPr>
              <a:t> exposes properties like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ProductName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Price</a:t>
            </a:r>
            <a:r>
              <a:rPr lang="en">
                <a:solidFill>
                  <a:schemeClr val="dk1"/>
                </a:solidFill>
              </a:rPr>
              <a:t>, and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Inventory</a:t>
            </a:r>
            <a:r>
              <a:rPr lang="en">
                <a:solidFill>
                  <a:schemeClr val="dk1"/>
                </a:solidFill>
              </a:rPr>
              <a:t> without revealing how they’re stored or validated internally.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3. Inheritance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Inheritance allows a class to inherit behavior and attributes from another class.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FormProduct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b="1" lang="en">
                <a:solidFill>
                  <a:schemeClr val="dk1"/>
                </a:solidFill>
              </a:rPr>
              <a:t>inherits</a:t>
            </a:r>
            <a:r>
              <a:rPr lang="en">
                <a:solidFill>
                  <a:schemeClr val="dk1"/>
                </a:solidFill>
              </a:rPr>
              <a:t> from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</a:t>
            </a:r>
            <a:r>
              <a:rPr lang="en">
                <a:solidFill>
                  <a:schemeClr val="dk1"/>
                </a:solidFill>
              </a:rPr>
              <a:t>, meaning it gains all the base form functionalities and extends them with product-specific logic.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4. Polymorphism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Polymorphism allows objects to be treated as instances of their parent class, enabling flexible and reusable code.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While not explicitly shown in method overrides, the use of event handlers like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BtnSubmit_Click</a:t>
            </a:r>
            <a:r>
              <a:rPr lang="en">
                <a:solidFill>
                  <a:schemeClr val="dk1"/>
                </a:solidFill>
              </a:rPr>
              <a:t> suggests polymorphic behavior in UI event handling.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If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</a:t>
            </a:r>
            <a:r>
              <a:rPr lang="en">
                <a:solidFill>
                  <a:schemeClr val="dk1"/>
                </a:solidFill>
              </a:rPr>
              <a:t> defines virtual methods,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FormProduct</a:t>
            </a:r>
            <a:r>
              <a:rPr lang="en">
                <a:solidFill>
                  <a:schemeClr val="dk1"/>
                </a:solidFill>
              </a:rPr>
              <a:t> could override them to customize behavior.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5. Composition and Association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relationships show how classes are built from or connected to other classes.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Composition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FormProduct</a:t>
            </a:r>
            <a:r>
              <a:rPr lang="en">
                <a:solidFill>
                  <a:schemeClr val="dk1"/>
                </a:solidFill>
              </a:rPr>
              <a:t> has a strong relationship with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MartManagementContext</a:t>
            </a:r>
            <a:r>
              <a:rPr lang="en">
                <a:solidFill>
                  <a:schemeClr val="dk1"/>
                </a:solidFill>
              </a:rPr>
              <a:t>, meaning it likely manages database operations.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✅ </a:t>
            </a:r>
            <a:r>
              <a:rPr b="1" lang="en">
                <a:solidFill>
                  <a:schemeClr val="dk1"/>
                </a:solidFill>
              </a:rPr>
              <a:t>Association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Product</a:t>
            </a:r>
            <a:r>
              <a:rPr lang="en">
                <a:solidFill>
                  <a:schemeClr val="dk1"/>
                </a:solidFill>
              </a:rPr>
              <a:t> is associated with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r>
              <a:rPr lang="en">
                <a:solidFill>
                  <a:schemeClr val="dk1"/>
                </a:solidFill>
              </a:rPr>
              <a:t> and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Inventory</a:t>
            </a:r>
            <a:r>
              <a:rPr lang="en">
                <a:solidFill>
                  <a:schemeClr val="dk1"/>
                </a:solidFill>
              </a:rPr>
              <a:t>, showing how products are categorized and tracked.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9887e9b1fb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9887e9b1f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9887e9b1fb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9887e9b1fb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887e9b1fb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9887e9b1fb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8.png"/><Relationship Id="rId7" Type="http://schemas.openxmlformats.org/officeDocument/2006/relationships/image" Target="../media/image5.png"/><Relationship Id="rId8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Relationship Id="rId6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19.png"/><Relationship Id="rId5" Type="http://schemas.openxmlformats.org/officeDocument/2006/relationships/image" Target="../media/image25.png"/><Relationship Id="rId6" Type="http://schemas.openxmlformats.org/officeDocument/2006/relationships/image" Target="../media/image15.png"/><Relationship Id="rId7" Type="http://schemas.openxmlformats.org/officeDocument/2006/relationships/image" Target="../media/image2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24.png"/><Relationship Id="rId5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27.png"/><Relationship Id="rId6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5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" type="subTitle"/>
          </p:nvPr>
        </p:nvSpPr>
        <p:spPr>
          <a:xfrm>
            <a:off x="2203775" y="292000"/>
            <a:ext cx="58998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សាកលវិទ្យាល័យភូមិន្ទភ្នំពេញ</a:t>
            </a:r>
            <a:endParaRPr b="1" sz="3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744525" y="640075"/>
            <a:ext cx="7635551" cy="411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113" y="143456"/>
            <a:ext cx="1075301" cy="109723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2383575" y="1433096"/>
            <a:ext cx="5596500" cy="2062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ប្រព័ន្ធគ្រប់គ្រងហាងលក់ទំនិញ</a:t>
            </a:r>
            <a:endParaRPr sz="2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Mart Management System</a:t>
            </a:r>
            <a:endParaRPr sz="2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—</a:t>
            </a:r>
            <a:endParaRPr sz="2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rial"/>
              <a:buNone/>
            </a:pPr>
            <a:r>
              <a:t/>
            </a:r>
            <a:endParaRPr sz="2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42625" y="2651984"/>
            <a:ext cx="482925" cy="48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60311" y="2751656"/>
            <a:ext cx="405900" cy="40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9720" y="2729615"/>
            <a:ext cx="445850" cy="44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23975" y="2756493"/>
            <a:ext cx="445850" cy="4458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3"/>
          <p:cNvSpPr txBox="1"/>
          <p:nvPr/>
        </p:nvSpPr>
        <p:spPr>
          <a:xfrm>
            <a:off x="3324789" y="3108681"/>
            <a:ext cx="961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ផលិតផល</a:t>
            </a:r>
            <a:endParaRPr sz="13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4373374" y="3108681"/>
            <a:ext cx="961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លក់</a:t>
            </a:r>
            <a:endParaRPr sz="13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221047" y="3108681"/>
            <a:ext cx="961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ស្តុក</a:t>
            </a:r>
            <a:endParaRPr sz="13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976770" y="3108681"/>
            <a:ext cx="961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អ្នកប្រើប្រាស់</a:t>
            </a:r>
            <a:endParaRPr sz="13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66" name="Google Shape;66;p13"/>
          <p:cNvSpPr txBox="1"/>
          <p:nvPr/>
        </p:nvSpPr>
        <p:spPr>
          <a:xfrm>
            <a:off x="405125" y="3743578"/>
            <a:ext cx="5033400" cy="10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មុខវិជ្ជា៖ OOAD and Programming</a:t>
            </a:r>
            <a:endParaRPr sz="1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បង្រៀនដោយ៖ Dan Vournpheng</a:t>
            </a:r>
            <a:endParaRPr sz="1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ថ្នាក់៖ M1    ​​  ក្រុមទី៖ </a:t>
            </a:r>
            <a:endParaRPr sz="1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idx="1" type="subTitle"/>
          </p:nvPr>
        </p:nvSpPr>
        <p:spPr>
          <a:xfrm>
            <a:off x="405130" y="293700"/>
            <a:ext cx="25455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សមាជិកក្រុម</a:t>
            </a:r>
            <a:endParaRPr b="1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956500" y="480775"/>
            <a:ext cx="7498549" cy="40368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/>
        </p:nvSpPr>
        <p:spPr>
          <a:xfrm>
            <a:off x="1079628" y="1348629"/>
            <a:ext cx="48759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ស៊ូ ចាន់រ៉ូជែម​ - SOU Chanrojame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 ភក្តី - ORN Pheakdey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លិ ស្រីម៉ា​ ​- Le Sreyma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8325" y="911675"/>
            <a:ext cx="34290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idx="1" type="subTitle"/>
          </p:nvPr>
        </p:nvSpPr>
        <p:spPr>
          <a:xfrm>
            <a:off x="405130" y="293700"/>
            <a:ext cx="25455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មាតិកា</a:t>
            </a:r>
            <a:endParaRPr b="1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82" name="Google Shape;82;p15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276150" y="495300"/>
            <a:ext cx="8104925" cy="48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1079625" y="1062875"/>
            <a:ext cx="6339000" cy="35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គោលបំណងនៃប្រព័ន្ធ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សមត្ថភាពប្រព័ន្ធ - System Capability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មុខងារនៃប្រព័ន្ធ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Applying OOP Design Principles - UML Class Diagram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សន្និដ្ឋាន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Kantumruy Pro"/>
              <a:buAutoNum type="arabicPeriod"/>
            </a:pPr>
            <a:r>
              <a:rPr lang="en" sz="2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Demo</a:t>
            </a:r>
            <a:endParaRPr sz="2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84" name="Google Shape;8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>
            <p:ph idx="1" type="subTitle"/>
          </p:nvPr>
        </p:nvSpPr>
        <p:spPr>
          <a:xfrm>
            <a:off x="405123" y="293700"/>
            <a:ext cx="34755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គោលបំណងនៃប្រព័ន្ធ</a:t>
            </a:r>
            <a:endParaRPr b="1" sz="3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813150" y="606797"/>
            <a:ext cx="7942200" cy="427562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/>
          <p:nvPr/>
        </p:nvSpPr>
        <p:spPr>
          <a:xfrm>
            <a:off x="562550" y="967800"/>
            <a:ext cx="85815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ប្រព័ន្ធគ្រប់គ្រងហាង (Mart Management System) នេះត្រូវបានបង្កើតឡើងក្នុងគោលបំណងសំខាន់ ដើម្បីជួយសម្រួលដល់ការគ្រប់គ្រងប្រតិបត្តិការប្រចាំថ្ងៃរបស់ហាងលក់ទំនិញខ្នាតតូច និងមធ្យម។ ប្រព័ន្ធនេះមានគោលដៅធ្វើឱ្យប្រសើរឡើងនូវប្រសិទ្ធភាពការងារ កាត់បន្ថយកំហុសឆ្គងរបស់មនុស្ស និងផ្ដល់ទិន្នន័យត្រឹមត្រូវសម្រាប់ការសម្រេចចិត្ត។</a:t>
            </a:r>
            <a:endParaRPr sz="1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92" name="Google Shape;9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734525" y="2672471"/>
            <a:ext cx="2601900" cy="2068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3523975" y="2672471"/>
            <a:ext cx="2601900" cy="2068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6313425" y="2672471"/>
            <a:ext cx="2601900" cy="2068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60071" y="2754123"/>
            <a:ext cx="548700" cy="54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6625" y="2778225"/>
            <a:ext cx="495250" cy="49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13864" y="2722818"/>
            <a:ext cx="495250" cy="4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/>
        </p:nvSpPr>
        <p:spPr>
          <a:xfrm>
            <a:off x="1159239" y="3307771"/>
            <a:ext cx="16329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ការគ្រប់គ្រងប្រតិបត្តិការ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4036839" y="3294150"/>
            <a:ext cx="16329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កាត់បន្ថយកំហុសឆ្គង</a:t>
            </a:r>
            <a:endParaRPr sz="13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1" name="Google Shape;101;p16"/>
          <p:cNvSpPr txBox="1"/>
          <p:nvPr/>
        </p:nvSpPr>
        <p:spPr>
          <a:xfrm>
            <a:off x="6534150" y="3280554"/>
            <a:ext cx="23814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ផ្ដល់ទិន្នន័យសម្រាប់ការសម្រេចចិត្ត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734400" y="3607875"/>
            <a:ext cx="2520300" cy="11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ជួយបង្កើនប្រសិទ្ធភាពការងារ ដោយកាត់បន្ថយពេលវេលា និងកម្លាំងពលកម្មដែលត្រូវចំណាយលើការគ្រប់គ្រងដោយដៃ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3659943" y="3594275"/>
            <a:ext cx="23814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កាត់បន្ថយកំហុសឆ្គងដែលបណ្ដាលមកពីការបញ្ចូលទិន្នន័យដោយដៃ និងធ្វើឱ្យការគ្រប់គ្រងទិន្នន័យមានភាពងាយស្រួល រហ័ស និងត្រឹមត្រូវ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6490236" y="3621500"/>
            <a:ext cx="2381400" cy="16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ជួយម្ចាស់ហាងតាមដានការលក់ ស្ដុកទំនិញ និងព័ត៌មានផ្សេងៗបានយ៉ាងច្បាស់លាស់ ដែលជាមូលដ្ឋានគ្រឹះសម្រាប់ការសម្រេចចិត្តអាជីវកម្ម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2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សមត្ថភាពប្រព័ន្ធ - System Capability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813150" y="606797"/>
            <a:ext cx="7942200" cy="427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/>
          <p:nvPr/>
        </p:nvSpPr>
        <p:spPr>
          <a:xfrm>
            <a:off x="562550" y="967800"/>
            <a:ext cx="8068800" cy="20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ប្រព័ន្ធគ្រប់គ្រងហាង (Mart Management System)</a:t>
            </a:r>
            <a:r>
              <a:rPr lang="en" sz="16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 នេះត្រូវបានរចនាឡើងដោយមាន Form ផ្សេងៗគ្នាសម្រាប់បំពេញការងារនីមួយៗ ដើម្បីធានាបាននូវភាពងាយស្រួលក្នុងការប្រើប្រាស់ និងប្រសិទ្ធភាពខ្ពស់ក្នុងការគ្រប់គ្រងប្រតិបត្តិការប្រចាំថ្ងៃ។ប្រព័ន្ធគ្រប់គ្រងហាងលក់ទំនិញមានសមត្ថភាពសំខាន់ៗដូចខាងក្រោម៖</a:t>
            </a:r>
            <a:endParaRPr sz="1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13" name="Google Shape;11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4" name="Google Shape;114;p17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693950" y="2737325"/>
            <a:ext cx="7200600" cy="941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6" name="Google Shape;11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811" y="2830675"/>
            <a:ext cx="754400" cy="75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7"/>
          <p:cNvSpPr txBox="1"/>
          <p:nvPr/>
        </p:nvSpPr>
        <p:spPr>
          <a:xfrm>
            <a:off x="1725825" y="2737325"/>
            <a:ext cx="276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100"/>
              <a:buFont typeface="Arial"/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ការគ្រប់គ្រងផលិតផល</a:t>
            </a:r>
            <a:endParaRPr sz="2100">
              <a:solidFill>
                <a:schemeClr val="dk2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1725807" y="3054846"/>
            <a:ext cx="5978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អនុញ្ញាតឱ្យបញ្ចូល កែប្រែ លុប និងព័ត៌មានលម្អិតអំពីផលិតផល រួមមានឈ្មោះ តម្លៃ ប្រភេទ និងលេខកូដ។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682600" y="3803200"/>
            <a:ext cx="7200600" cy="941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1714475" y="3803200"/>
            <a:ext cx="276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ការគ្រប់គ្រងការលក់</a:t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1714457" y="4120721"/>
            <a:ext cx="5978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ផ្ដល់មុខងារសម្រាប់ដំណើរការប្រតិបត្តិការលក់ បង្កើតវិក្កយបត្រ គណនាតម្លៃសរុប និងគ្រប់គ្រងការទូទាត់។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22" name="Google Shape;12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1975" y="3859629"/>
            <a:ext cx="826275" cy="82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2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សមត្ថភាពប្រព័ន្ធ - System Capability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28" name="Google Shape;128;p18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813150" y="606797"/>
            <a:ext cx="7942200" cy="427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0" name="Google Shape;130;p18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131" name="Google Shape;131;p18"/>
          <p:cNvSpPr txBox="1"/>
          <p:nvPr/>
        </p:nvSpPr>
        <p:spPr>
          <a:xfrm>
            <a:off x="648600" y="2115225"/>
            <a:ext cx="7200600" cy="941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1680475" y="2115225"/>
            <a:ext cx="27669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ការគ្រប់គ្រងបុគ្គលិក/អ្នកប្រើប្រាស់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1680457" y="2432746"/>
            <a:ext cx="5978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គ្រប់គ្រងគណនីអ្នកប្រើប្រាស់ផ្សេងៗគ្នា ដូចជាអ្នកគ្រប់គ្រង (Admin) និងបុគ្គលិក(Staff) ដោយកំណត់សិទ្ធិចូលប្រើប្រាស់មុខងារផ្សេងៗ។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4" name="Google Shape;134;p18"/>
          <p:cNvSpPr txBox="1"/>
          <p:nvPr/>
        </p:nvSpPr>
        <p:spPr>
          <a:xfrm>
            <a:off x="648600" y="3296775"/>
            <a:ext cx="7200600" cy="941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5" name="Google Shape;135;p18"/>
          <p:cNvSpPr txBox="1"/>
          <p:nvPr/>
        </p:nvSpPr>
        <p:spPr>
          <a:xfrm>
            <a:off x="1680475" y="3296775"/>
            <a:ext cx="276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ការបង្កើតរបាយការណ៍</a:t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6" name="Google Shape;136;p18"/>
          <p:cNvSpPr txBox="1"/>
          <p:nvPr/>
        </p:nvSpPr>
        <p:spPr>
          <a:xfrm>
            <a:off x="1680450" y="3614300"/>
            <a:ext cx="663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បង្កើតរបាយការណ៍លក់ប្រចាំថ្ងៃ ប្រចាំខែ ឬប្រចាំឆ្នាំ របាយការណ៍ស្ដុក</a:t>
            </a: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 </a:t>
            </a: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និងរបាយការណ៍ផ្សេងៗទៀតដើម្បីជួយក្នុងការវិភាគអាជីវកម្ម។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7" name="Google Shape;137;p18"/>
          <p:cNvSpPr txBox="1"/>
          <p:nvPr/>
        </p:nvSpPr>
        <p:spPr>
          <a:xfrm>
            <a:off x="648600" y="991075"/>
            <a:ext cx="7200600" cy="941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8" name="Google Shape;138;p18"/>
          <p:cNvSpPr txBox="1"/>
          <p:nvPr/>
        </p:nvSpPr>
        <p:spPr>
          <a:xfrm>
            <a:off x="1680475" y="991075"/>
            <a:ext cx="276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ការគ្រប់គ្រងស្ដុក</a:t>
            </a:r>
            <a:endParaRPr sz="2100">
              <a:solidFill>
                <a:schemeClr val="dk2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39" name="Google Shape;139;p18"/>
          <p:cNvSpPr txBox="1"/>
          <p:nvPr/>
        </p:nvSpPr>
        <p:spPr>
          <a:xfrm>
            <a:off x="1680457" y="1308596"/>
            <a:ext cx="5978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តាមដានចំនួនផលិតផលក្នុងស្ដុក ធ្វើបច្ចុប្បន្នភាពស្ដុកដោយស្វ័យប្រវត្តិបន្ទាប់ពីការលក់ ឬការនាំចូល និងផ្ដល់ការជូនដំណឹងនៅពេលស្ដុកជិតអស់។</a:t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40" name="Google Shape;14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5860" y="1048475"/>
            <a:ext cx="826275" cy="826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5850" y="2158624"/>
            <a:ext cx="760100" cy="76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5847" y="3387263"/>
            <a:ext cx="760100" cy="760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3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មុខងារនៃប្រព័ន្ធ - ការគ្រប់គ្រងផលិតផល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48" name="Google Shape;148;p19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813150" y="606797"/>
            <a:ext cx="7942200" cy="427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" name="Google Shape;150;p19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151" name="Google Shape;151;p19"/>
          <p:cNvSpPr txBox="1"/>
          <p:nvPr/>
        </p:nvSpPr>
        <p:spPr>
          <a:xfrm>
            <a:off x="920699" y="899775"/>
            <a:ext cx="6610800" cy="11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62518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Form នេះត្រូវបានបង្កើតឡើងសម្រាប់គ្រប់គ្រងព័ត៌មានលម្អិតរបស់ផលិតផលទាំងអស់នៅក្នុងហាង។ មុខងារសំខាន់ៗរួមមាន៖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52" name="Google Shape;152;p19"/>
          <p:cNvSpPr txBox="1"/>
          <p:nvPr/>
        </p:nvSpPr>
        <p:spPr>
          <a:xfrm>
            <a:off x="1172339" y="1743300"/>
            <a:ext cx="27669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100"/>
              <a:buFont typeface="Arial"/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បញ្ចូលផលិតផលថ្មី (Add)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53" name="Google Shape;153;p19"/>
          <p:cNvSpPr txBox="1"/>
          <p:nvPr/>
        </p:nvSpPr>
        <p:spPr>
          <a:xfrm>
            <a:off x="1172314" y="2060825"/>
            <a:ext cx="2946000" cy="12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អនុញ្ញាតឱ្យអ្នកប្រើប្រាស់បញ្ចូលព័ត៌មានផលិតផលថ្មី រួមមានឈ្មោះផលិតផល លេខកូដ តម្លៃដើម តម្លៃលក់ ប្រភេទ ជាដើម។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54" name="Google Shape;154;p19"/>
          <p:cNvSpPr txBox="1"/>
          <p:nvPr/>
        </p:nvSpPr>
        <p:spPr>
          <a:xfrm>
            <a:off x="495825" y="1667775"/>
            <a:ext cx="3622500" cy="128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4525" y="1921100"/>
            <a:ext cx="452250" cy="45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5424568" y="1720625"/>
            <a:ext cx="2766900" cy="10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កែប្រែព័ត៌មានផលិតផល (Edit)</a:t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5401864" y="2038150"/>
            <a:ext cx="2946000" cy="12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អនុញ្ញាតឱ្យកែសម្រួលព័ត៌មានផលិតផលដែលមានស្រាប់ ដូចជាការផ្លាស់ប្តូរតម្លៃ ឬការកែសម្រួលការបរិយាយ។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58" name="Google Shape;158;p19"/>
          <p:cNvSpPr txBox="1"/>
          <p:nvPr/>
        </p:nvSpPr>
        <p:spPr>
          <a:xfrm>
            <a:off x="4725386" y="1667775"/>
            <a:ext cx="3622500" cy="128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59" name="Google Shape;159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49614" y="1806045"/>
            <a:ext cx="452250" cy="45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9"/>
          <p:cNvSpPr txBox="1"/>
          <p:nvPr/>
        </p:nvSpPr>
        <p:spPr>
          <a:xfrm>
            <a:off x="979575" y="3330811"/>
            <a:ext cx="2766900" cy="13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100"/>
              <a:buFont typeface="Arial"/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លុបផលិតផល (Delete)</a:t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61" name="Google Shape;161;p19"/>
          <p:cNvSpPr txBox="1"/>
          <p:nvPr/>
        </p:nvSpPr>
        <p:spPr>
          <a:xfrm>
            <a:off x="979550" y="3648336"/>
            <a:ext cx="29460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អនុញ្ញាតឱ្យលុបផលិតផលដែលលែងមាន ឬលែងលក់ចេញពីប្រព័ន្ធ។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62" name="Google Shape;162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650" y="3440043"/>
            <a:ext cx="577125" cy="57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484479" y="3198575"/>
            <a:ext cx="3622500" cy="128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3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មុខងារនៃប្រព័ន្ធ - ការគ្រប់គ្រង</a:t>
            </a: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ការលក់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69" name="Google Shape;169;p20"/>
          <p:cNvPicPr preferRelativeResize="0"/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813150" y="606797"/>
            <a:ext cx="7942200" cy="427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1803909" y="1984440"/>
            <a:ext cx="1676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បង្កើតវិក្កយបត្រថ្មី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1561280" y="1198086"/>
            <a:ext cx="2766900" cy="8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ការគ្រប់គ្រងការលក់</a:t>
            </a:r>
            <a:endParaRPr sz="1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74" name="Google Shape;17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6780" y="1216256"/>
            <a:ext cx="584225" cy="58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7234" y="2092278"/>
            <a:ext cx="306825" cy="30682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0"/>
          <p:cNvSpPr txBox="1"/>
          <p:nvPr/>
        </p:nvSpPr>
        <p:spPr>
          <a:xfrm>
            <a:off x="1795331" y="2258063"/>
            <a:ext cx="3000000" cy="5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អនុញ្ញាតឱ្យបង្កើតវិក្កយបត្រសម្រាប់អតិថិជនម្នាក់ៗ ដោយបញ្ចូលផលិតផលដែលបានទិញ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77" name="Google Shape;177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17325" y="2119233"/>
            <a:ext cx="306825" cy="30682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0"/>
          <p:cNvSpPr txBox="1"/>
          <p:nvPr/>
        </p:nvSpPr>
        <p:spPr>
          <a:xfrm>
            <a:off x="5377652" y="1984440"/>
            <a:ext cx="1676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Arial"/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គណនាតម្លៃសរុប</a:t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79" name="Google Shape;179;p20"/>
          <p:cNvSpPr txBox="1"/>
          <p:nvPr/>
        </p:nvSpPr>
        <p:spPr>
          <a:xfrm>
            <a:off x="5380707" y="222213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គណនាតម្លៃសរុបដោយស្វ័យប្រវត្តិ 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1821859" y="3224490"/>
            <a:ext cx="1676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ទទួលការទូទាត់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81" name="Google Shape;181;p20"/>
          <p:cNvSpPr txBox="1"/>
          <p:nvPr/>
        </p:nvSpPr>
        <p:spPr>
          <a:xfrm>
            <a:off x="1813281" y="3498113"/>
            <a:ext cx="3000000" cy="8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កត់ត្រាវិធីសាស្រ្តទូទាត់ (សាច់ប្រាក់ កាត ឬផ្សេងៗ) និងចំនួនទឹកប្រាក់ដែលបានទទួល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82" name="Google Shape;182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48040" y="3338218"/>
            <a:ext cx="270051" cy="27005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 txBox="1"/>
          <p:nvPr/>
        </p:nvSpPr>
        <p:spPr>
          <a:xfrm>
            <a:off x="1277800" y="1892425"/>
            <a:ext cx="3243900" cy="110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1286775" y="3186375"/>
            <a:ext cx="3243900" cy="110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4836175" y="1883425"/>
            <a:ext cx="3243900" cy="1105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6" name="Google Shape;186;p20"/>
          <p:cNvSpPr txBox="1"/>
          <p:nvPr/>
        </p:nvSpPr>
        <p:spPr>
          <a:xfrm>
            <a:off x="496025" y="966875"/>
            <a:ext cx="8455800" cy="3769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3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មុខងារនៃប្រព័ន្ធ - ការគ្រប់គ្រង</a:t>
            </a: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ស្ដុក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92" name="Google Shape;19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21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1803909" y="1984440"/>
            <a:ext cx="1676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ធ្វើបច្ចុប្បន្នភាពចំនួនស្ដុក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1561280" y="1198086"/>
            <a:ext cx="2766900" cy="8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</a:t>
            </a: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ងស្ដុក</a:t>
            </a:r>
            <a:endParaRPr sz="18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1795331" y="2258063"/>
            <a:ext cx="3000000" cy="8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កែសម្រួលបរិមាណស្ដុកនៅពេលមានការនាំចូល</a:t>
            </a:r>
            <a:r>
              <a:rPr lang="en" sz="800">
                <a:solidFill>
                  <a:srgbClr val="4B5563"/>
                </a:solidFill>
              </a:rPr>
              <a:t> </a:t>
            </a: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ឬនាំចេញទំនិញ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5377652" y="1984440"/>
            <a:ext cx="1676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ពិនិត្យមើលកម្រិតស្ដុក</a:t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5380707" y="222213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តាមដានបរិមាណស្ដុកបច្ចុប្បន្នរបស់ផលិតផលនីមួយៗ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199" name="Google Shape;19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754" y="1201224"/>
            <a:ext cx="400200" cy="4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9450" y="2059775"/>
            <a:ext cx="495869" cy="4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8388" y="2078086"/>
            <a:ext cx="459250" cy="459226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1169950" y="1917575"/>
            <a:ext cx="3207900" cy="1132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4647475" y="1908575"/>
            <a:ext cx="3585300" cy="1132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693700" y="1013612"/>
            <a:ext cx="8177100" cy="3721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3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មុខងារនៃប្រព័ន្ធ - ការគ្រប់គ្រង</a:t>
            </a: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អ្នកប្រើប្រាស់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0" name="Google Shape;21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212" name="Google Shape;212;p22"/>
          <p:cNvSpPr txBox="1"/>
          <p:nvPr/>
        </p:nvSpPr>
        <p:spPr>
          <a:xfrm>
            <a:off x="1803909" y="1703493"/>
            <a:ext cx="1676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បង្កើតគណនីអ្នកប្រើប្រាស់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3" name="Google Shape;213;p22"/>
          <p:cNvSpPr txBox="1"/>
          <p:nvPr/>
        </p:nvSpPr>
        <p:spPr>
          <a:xfrm>
            <a:off x="1561280" y="1046806"/>
            <a:ext cx="276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</a:t>
            </a: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អ្នកប្រើប្រាស់</a:t>
            </a:r>
            <a:endParaRPr b="1" sz="16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4" name="Google Shape;214;p22"/>
          <p:cNvSpPr txBox="1"/>
          <p:nvPr/>
        </p:nvSpPr>
        <p:spPr>
          <a:xfrm>
            <a:off x="1563578" y="1998518"/>
            <a:ext cx="3000000" cy="11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បង្កើតគណនីថ្មីសម្រាប់បុគ្គលិក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បញ្ចូលឈ្មោះអ្នកប្រើប្រាស់ ពាក្យសម្ងាត់ និងព័ត៌មា</a:t>
            </a: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នផ្ទាល់ខ្លួន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កំណត់សិទ្ធិចូលប្រើប្រាស់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5" name="Google Shape;215;p22"/>
          <p:cNvSpPr txBox="1"/>
          <p:nvPr/>
        </p:nvSpPr>
        <p:spPr>
          <a:xfrm>
            <a:off x="5461027" y="1703490"/>
            <a:ext cx="1676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កំណត់សិទ្ធិ</a:t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6" name="Google Shape;216;p22"/>
          <p:cNvSpPr txBox="1"/>
          <p:nvPr/>
        </p:nvSpPr>
        <p:spPr>
          <a:xfrm>
            <a:off x="5234103" y="1955296"/>
            <a:ext cx="30000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កំណត់កម្រិតសិទ្ធិខុសៗគ្នាសម្រាប់អ្នកប្រើប្រាស់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បញ្ចូល</a:t>
            </a: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អ្នកគ្រប់គ្រង (Admin) ដែលមានសិទ្ធិពេញលេញ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បុគ្គលិក (Staff) ដែលមានសិទ្ធិចូលប្រើមុខងារជាក់លាក់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7" name="Google Shape;217;p22"/>
          <p:cNvSpPr txBox="1"/>
          <p:nvPr/>
        </p:nvSpPr>
        <p:spPr>
          <a:xfrm>
            <a:off x="1674234" y="3378355"/>
            <a:ext cx="16767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គ្រប់គ្រងព័ត៌មានបុគ្គលិក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18" name="Google Shape;218;p22"/>
          <p:cNvSpPr txBox="1"/>
          <p:nvPr/>
        </p:nvSpPr>
        <p:spPr>
          <a:xfrm>
            <a:off x="1433900" y="3673387"/>
            <a:ext cx="3247200" cy="11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បង្កើ</a:t>
            </a: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តកែសម្រួលព័ត៌មានបុគ្គលិកដែលមានស្រាប់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បញ្ចូ</a:t>
            </a: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លលុបគណនីអ្នកប្រើប្រាស់ដែលលែងមាន</a:t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114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Char char="●"/>
            </a:pPr>
            <a:r>
              <a:rPr lang="en" sz="1100">
                <a:solidFill>
                  <a:srgbClr val="4B5563"/>
                </a:solidFill>
                <a:latin typeface="Kantumruy Pro"/>
                <a:ea typeface="Kantumruy Pro"/>
                <a:cs typeface="Kantumruy Pro"/>
                <a:sym typeface="Kantumruy Pro"/>
              </a:rPr>
              <a:t>តាមដានការប្រើប្រាស់ប្រព័ន្ធ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4B5563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219" name="Google Shape;21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2089" y="1826651"/>
            <a:ext cx="400200" cy="4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3225" y="3481398"/>
            <a:ext cx="400200" cy="400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0063" y="1826662"/>
            <a:ext cx="400200" cy="4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29850" y="985132"/>
            <a:ext cx="548700" cy="5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/>
        </p:nvSpPr>
        <p:spPr>
          <a:xfrm>
            <a:off x="715325" y="912000"/>
            <a:ext cx="8190600" cy="38775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4" name="Google Shape;224;p22"/>
          <p:cNvSpPr txBox="1"/>
          <p:nvPr/>
        </p:nvSpPr>
        <p:spPr>
          <a:xfrm>
            <a:off x="1288025" y="1635975"/>
            <a:ext cx="2960700" cy="1556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1212400" y="3354075"/>
            <a:ext cx="3351300" cy="12207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4897125" y="1603550"/>
            <a:ext cx="3575400" cy="17217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3"/>
          <p:cNvSpPr txBox="1"/>
          <p:nvPr>
            <p:ph idx="1" type="subTitle"/>
          </p:nvPr>
        </p:nvSpPr>
        <p:spPr>
          <a:xfrm>
            <a:off x="243040" y="163210"/>
            <a:ext cx="90087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5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Applying OOP Design Principles - UML Class Diagram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32" name="Google Shape;23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23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pic>
        <p:nvPicPr>
          <p:cNvPr id="234" name="Google Shape;2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775" y="837300"/>
            <a:ext cx="4229225" cy="285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2525" y="913575"/>
            <a:ext cx="3743426" cy="2777124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3"/>
          <p:cNvSpPr txBox="1"/>
          <p:nvPr/>
        </p:nvSpPr>
        <p:spPr>
          <a:xfrm>
            <a:off x="427550" y="3734200"/>
            <a:ext cx="85023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This UML class diagram models a mart product management system using OOP principles. Each class encapsulates its own data and behavior. </a:t>
            </a:r>
            <a:r>
              <a:rPr lang="en" sz="1100">
                <a:solidFill>
                  <a:schemeClr val="dk1"/>
                </a:solidFill>
              </a:rPr>
              <a:t>The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Product</a:t>
            </a:r>
            <a:r>
              <a:rPr lang="en" sz="1100">
                <a:solidFill>
                  <a:schemeClr val="dk1"/>
                </a:solidFill>
              </a:rPr>
              <a:t> class abstracts product details and interacts with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r>
              <a:rPr lang="en" sz="1100">
                <a:solidFill>
                  <a:schemeClr val="dk1"/>
                </a:solidFill>
              </a:rPr>
              <a:t> and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Inventory</a:t>
            </a:r>
            <a:r>
              <a:rPr lang="en" sz="1100">
                <a:solidFill>
                  <a:schemeClr val="dk1"/>
                </a:solidFill>
              </a:rPr>
              <a:t> through associations.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FormProduct</a:t>
            </a:r>
            <a:r>
              <a:rPr lang="en" sz="1100">
                <a:solidFill>
                  <a:schemeClr val="dk1"/>
                </a:solidFill>
              </a:rPr>
              <a:t> inherits from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Form</a:t>
            </a:r>
            <a:r>
              <a:rPr lang="en" sz="1100">
                <a:solidFill>
                  <a:schemeClr val="dk1"/>
                </a:solidFill>
              </a:rPr>
              <a:t> and handles user interactions, demonstrating encapsulation and polymorphism. </a:t>
            </a:r>
            <a:endParaRPr sz="11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4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5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សន្និដ្ឋាន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42" name="Google Shape;2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4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244" name="Google Shape;244;p24"/>
          <p:cNvSpPr txBox="1"/>
          <p:nvPr/>
        </p:nvSpPr>
        <p:spPr>
          <a:xfrm>
            <a:off x="692225" y="1205516"/>
            <a:ext cx="8068800" cy="32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"/>
              <a:buChar char="●"/>
            </a:pPr>
            <a:r>
              <a:rPr lang="en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ការសន្និដ្ឋាន ការបង្កើតប្រព័ន្ធគ្រប់គ្រងហាងលក់ទំនិញ (Mart Management System) នេះបាននាំមកនូវអត្ថប្រយោជន៍ជាច្រើនក្នុងការគ្រប់គ្រងប្រតិបត្តិការប្រចាំថ្ងៃរបស់ហាង។ ប្រព័ន្ធនេះជួយបង្កើនប្រសិទ្ធភាពការងារយ៉ាងខ្លាំង ដោយកាត់បន្ថយពេលវេលា និងកម្លាំងពលកម្មដែលត្រូវចំណាយលើការគ្រប់គ្រងដោយដៃ។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"/>
              <a:buChar char="●"/>
            </a:pPr>
            <a:r>
              <a:rPr lang="en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តាមរយៈប្រព័ន្ធនេះ ម្ចាស់ហាងអាចតាមដានការលក់ ស្ដុកទំនិញ និងព័ត៌មានផ្សេងៗបានយ៉ាងច្បាស់លាស់ ដែលជាមូលដ្ឋានគ្រឹះសម្រាប់ការសម្រេចចិត្តអាជីវកម្មប្រកបដោយប្រសិទ្ធភាព។</a:t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625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5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5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សន្និដ្ឋាន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0" name="Google Shape;250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1" name="Google Shape;251;p25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252" name="Google Shape;252;p25"/>
          <p:cNvSpPr txBox="1"/>
          <p:nvPr/>
        </p:nvSpPr>
        <p:spPr>
          <a:xfrm>
            <a:off x="977759" y="881356"/>
            <a:ext cx="276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អត្ថប្រយោជន៍</a:t>
            </a:r>
            <a:endParaRPr b="1" sz="1800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3" name="Google Shape;253;p25"/>
          <p:cNvSpPr txBox="1"/>
          <p:nvPr/>
        </p:nvSpPr>
        <p:spPr>
          <a:xfrm>
            <a:off x="780175" y="1440300"/>
            <a:ext cx="7899000" cy="947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4" name="Google Shape;254;p25"/>
          <p:cNvSpPr txBox="1"/>
          <p:nvPr/>
        </p:nvSpPr>
        <p:spPr>
          <a:xfrm>
            <a:off x="1626475" y="1461909"/>
            <a:ext cx="27669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ប្រសិទ្ធភាពខ្ពស់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5" name="Google Shape;255;p25"/>
          <p:cNvSpPr txBox="1"/>
          <p:nvPr/>
        </p:nvSpPr>
        <p:spPr>
          <a:xfrm>
            <a:off x="1626457" y="1779430"/>
            <a:ext cx="5978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ការគ្រប់គ្រងដោយស្វ័យប្រវត្តិបន្ទាប់ពីការលក់ ឬការនាំចូល និងផ្ដល់ការជូនដំណឹងនៅពេលស្ដុកជិតអស់។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256" name="Google Shape;25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18" y="1560170"/>
            <a:ext cx="548700" cy="548684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5"/>
          <p:cNvSpPr txBox="1"/>
          <p:nvPr/>
        </p:nvSpPr>
        <p:spPr>
          <a:xfrm>
            <a:off x="780175" y="2531675"/>
            <a:ext cx="7899000" cy="9471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8" name="Google Shape;258;p25"/>
          <p:cNvSpPr txBox="1"/>
          <p:nvPr/>
        </p:nvSpPr>
        <p:spPr>
          <a:xfrm>
            <a:off x="1626475" y="2553284"/>
            <a:ext cx="2766900" cy="10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កាត់បន្ថយកំហុសឆ្គង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1626450" y="2870800"/>
            <a:ext cx="74634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កាត់បន្ថយកំហុសឆ្គងដែលបណ្ដាលមកពីការបញ្ចូលទិន្នន័យដោយដៃ និងធ្វើឱ្យការគ្រប់គ្រងទិន្នន័យមានភាពងាយស្រួល រហ័ស និងត្រឹមត្រូវ។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790975" y="3644650"/>
            <a:ext cx="7899000" cy="1018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61" name="Google Shape;261;p25"/>
          <p:cNvSpPr txBox="1"/>
          <p:nvPr/>
        </p:nvSpPr>
        <p:spPr>
          <a:xfrm>
            <a:off x="1637275" y="3666268"/>
            <a:ext cx="27669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E40AF"/>
                </a:solidFill>
                <a:latin typeface="Kantumruy Pro"/>
                <a:ea typeface="Kantumruy Pro"/>
                <a:cs typeface="Kantumruy Pro"/>
                <a:sym typeface="Kantumruy Pro"/>
              </a:rPr>
              <a:t>ទិន្នន័យសម្រាប់ការសម្រេចចិត្ត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E40AF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62" name="Google Shape;262;p25"/>
          <p:cNvSpPr txBox="1"/>
          <p:nvPr/>
        </p:nvSpPr>
        <p:spPr>
          <a:xfrm>
            <a:off x="1637257" y="3983790"/>
            <a:ext cx="59781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ផ្ដល់ទិន្នន័យត្រឹមត្រូវសម្រាប់ការសម្រេចចិត្ត ជួយម្ចាស់ហាងតាមដានការលក់ ស្ដុកទំនិញ និងព័ត៌មានផ្សេងៗបានយ៉ាងច្បាស់លាស់។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pic>
        <p:nvPicPr>
          <p:cNvPr id="263" name="Google Shape;2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8600" y="2602637"/>
            <a:ext cx="646500" cy="64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0158" y="3761610"/>
            <a:ext cx="548700" cy="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6"/>
          <p:cNvSpPr txBox="1"/>
          <p:nvPr>
            <p:ph idx="1" type="subTitle"/>
          </p:nvPr>
        </p:nvSpPr>
        <p:spPr>
          <a:xfrm>
            <a:off x="405126" y="293700"/>
            <a:ext cx="5978100" cy="6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Kantumruy Pro"/>
              <a:buAutoNum type="arabicPeriod" startAt="6"/>
            </a:pPr>
            <a:r>
              <a:rPr b="1" lang="en" sz="25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Demo</a:t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  <p:sp>
        <p:nvSpPr>
          <p:cNvPr id="270" name="Google Shape;27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0" y="4736350"/>
            <a:ext cx="288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741B47"/>
                </a:solidFill>
                <a:latin typeface="Kantumruy Pro"/>
                <a:ea typeface="Kantumruy Pro"/>
                <a:cs typeface="Kantumruy Pro"/>
                <a:sym typeface="Kantumruy Pro"/>
              </a:rPr>
              <a:t>ធិន​ សុីវធាន - THEN Sivthean</a:t>
            </a:r>
            <a:endParaRPr b="1" i="1">
              <a:solidFill>
                <a:srgbClr val="741B47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3025200" y="2113953"/>
            <a:ext cx="2653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rPr>
              <a:t>Demo Section</a:t>
            </a:r>
            <a:endParaRPr sz="2700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